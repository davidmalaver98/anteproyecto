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30"/>
        </a:solidFill>
      </p:bgPr>
    </p:bg>
    <p:spTree>
      <p:nvGrpSpPr>
        <p:cNvPr id="1" name=""/>
        <p:cNvGrpSpPr/>
        <p:nvPr/>
      </p:nvGrpSpPr>
      <p:grpSpPr>
        <a:xfrm>
          <a:off x="0" y="0"/>
          <a:ext cx="0" cy="0"/>
          <a:chOff x="0" y="0"/>
          <a:chExt cx="0" cy="0"/>
        </a:xfrm>
      </p:grpSpPr>
      <p:sp>
        <p:nvSpPr>
          <p:cNvPr id="2" name="Shape 0"/>
          <p:cNvSpPr/>
          <p:nvPr/>
        </p:nvSpPr>
        <p:spPr>
          <a:xfrm>
            <a:off x="9660636" y="4814316"/>
            <a:ext cx="64008" cy="64008"/>
          </a:xfrm>
          <a:prstGeom prst="ellipse">
            <a:avLst/>
          </a:prstGeom>
          <a:solidFill>
            <a:srgbClr val="1F4A80"/>
          </a:solidFill>
          <a:ln/>
        </p:spPr>
      </p:sp>
      <p:sp>
        <p:nvSpPr>
          <p:cNvPr id="3" name="Shape 1"/>
          <p:cNvSpPr/>
          <p:nvPr/>
        </p:nvSpPr>
        <p:spPr>
          <a:xfrm>
            <a:off x="9660636" y="5317236"/>
            <a:ext cx="64008" cy="64008"/>
          </a:xfrm>
          <a:prstGeom prst="ellipse">
            <a:avLst/>
          </a:prstGeom>
          <a:solidFill>
            <a:srgbClr val="1F4A80"/>
          </a:solidFill>
          <a:ln/>
        </p:spPr>
      </p:sp>
      <p:sp>
        <p:nvSpPr>
          <p:cNvPr id="4" name="Shape 2"/>
          <p:cNvSpPr/>
          <p:nvPr/>
        </p:nvSpPr>
        <p:spPr>
          <a:xfrm>
            <a:off x="9660636" y="5820156"/>
            <a:ext cx="64008" cy="64008"/>
          </a:xfrm>
          <a:prstGeom prst="ellipse">
            <a:avLst/>
          </a:prstGeom>
          <a:solidFill>
            <a:srgbClr val="1F4A80"/>
          </a:solidFill>
          <a:ln/>
        </p:spPr>
      </p:sp>
      <p:sp>
        <p:nvSpPr>
          <p:cNvPr id="5" name="Shape 3"/>
          <p:cNvSpPr/>
          <p:nvPr/>
        </p:nvSpPr>
        <p:spPr>
          <a:xfrm>
            <a:off x="10163556" y="4814316"/>
            <a:ext cx="64008" cy="64008"/>
          </a:xfrm>
          <a:prstGeom prst="ellipse">
            <a:avLst/>
          </a:prstGeom>
          <a:solidFill>
            <a:srgbClr val="1F4A80"/>
          </a:solidFill>
          <a:ln/>
        </p:spPr>
      </p:sp>
      <p:sp>
        <p:nvSpPr>
          <p:cNvPr id="6" name="Shape 4"/>
          <p:cNvSpPr/>
          <p:nvPr/>
        </p:nvSpPr>
        <p:spPr>
          <a:xfrm>
            <a:off x="10163556" y="5317236"/>
            <a:ext cx="64008" cy="64008"/>
          </a:xfrm>
          <a:prstGeom prst="ellipse">
            <a:avLst/>
          </a:prstGeom>
          <a:solidFill>
            <a:srgbClr val="1F4A80"/>
          </a:solidFill>
          <a:ln/>
        </p:spPr>
      </p:sp>
      <p:sp>
        <p:nvSpPr>
          <p:cNvPr id="7" name="Shape 5"/>
          <p:cNvSpPr/>
          <p:nvPr/>
        </p:nvSpPr>
        <p:spPr>
          <a:xfrm>
            <a:off x="10163556" y="5820156"/>
            <a:ext cx="64008" cy="64008"/>
          </a:xfrm>
          <a:prstGeom prst="ellipse">
            <a:avLst/>
          </a:prstGeom>
          <a:solidFill>
            <a:srgbClr val="1F4A80"/>
          </a:solidFill>
          <a:ln/>
        </p:spPr>
      </p:sp>
      <p:sp>
        <p:nvSpPr>
          <p:cNvPr id="8" name="Shape 6"/>
          <p:cNvSpPr/>
          <p:nvPr/>
        </p:nvSpPr>
        <p:spPr>
          <a:xfrm>
            <a:off x="10666476" y="4814316"/>
            <a:ext cx="64008" cy="64008"/>
          </a:xfrm>
          <a:prstGeom prst="ellipse">
            <a:avLst/>
          </a:prstGeom>
          <a:solidFill>
            <a:srgbClr val="1F4A80"/>
          </a:solidFill>
          <a:ln/>
        </p:spPr>
      </p:sp>
      <p:sp>
        <p:nvSpPr>
          <p:cNvPr id="9" name="Shape 7"/>
          <p:cNvSpPr/>
          <p:nvPr/>
        </p:nvSpPr>
        <p:spPr>
          <a:xfrm>
            <a:off x="10666476" y="5317236"/>
            <a:ext cx="64008" cy="64008"/>
          </a:xfrm>
          <a:prstGeom prst="ellipse">
            <a:avLst/>
          </a:prstGeom>
          <a:solidFill>
            <a:srgbClr val="1F4A80"/>
          </a:solidFill>
          <a:ln/>
        </p:spPr>
      </p:sp>
      <p:sp>
        <p:nvSpPr>
          <p:cNvPr id="10" name="Shape 8"/>
          <p:cNvSpPr/>
          <p:nvPr/>
        </p:nvSpPr>
        <p:spPr>
          <a:xfrm>
            <a:off x="10666476" y="5820156"/>
            <a:ext cx="64008" cy="64008"/>
          </a:xfrm>
          <a:prstGeom prst="ellipse">
            <a:avLst/>
          </a:prstGeom>
          <a:solidFill>
            <a:srgbClr val="1F4A80"/>
          </a:solidFill>
          <a:ln/>
        </p:spPr>
      </p:sp>
      <p:sp>
        <p:nvSpPr>
          <p:cNvPr id="11" name="Shape 9"/>
          <p:cNvSpPr/>
          <p:nvPr/>
        </p:nvSpPr>
        <p:spPr>
          <a:xfrm>
            <a:off x="11169396" y="4814316"/>
            <a:ext cx="64008" cy="64008"/>
          </a:xfrm>
          <a:prstGeom prst="ellipse">
            <a:avLst/>
          </a:prstGeom>
          <a:solidFill>
            <a:srgbClr val="1F4A80"/>
          </a:solidFill>
          <a:ln/>
        </p:spPr>
      </p:sp>
      <p:sp>
        <p:nvSpPr>
          <p:cNvPr id="12" name="Shape 10"/>
          <p:cNvSpPr/>
          <p:nvPr/>
        </p:nvSpPr>
        <p:spPr>
          <a:xfrm>
            <a:off x="11169396" y="5317236"/>
            <a:ext cx="64008" cy="64008"/>
          </a:xfrm>
          <a:prstGeom prst="ellipse">
            <a:avLst/>
          </a:prstGeom>
          <a:solidFill>
            <a:srgbClr val="1F4A80"/>
          </a:solidFill>
          <a:ln/>
        </p:spPr>
      </p:sp>
      <p:sp>
        <p:nvSpPr>
          <p:cNvPr id="13" name="Shape 11"/>
          <p:cNvSpPr/>
          <p:nvPr/>
        </p:nvSpPr>
        <p:spPr>
          <a:xfrm>
            <a:off x="11169396" y="5820156"/>
            <a:ext cx="64008" cy="64008"/>
          </a:xfrm>
          <a:prstGeom prst="ellipse">
            <a:avLst/>
          </a:prstGeom>
          <a:solidFill>
            <a:srgbClr val="1F4A80"/>
          </a:solidFill>
          <a:ln/>
        </p:spPr>
      </p:sp>
      <p:sp>
        <p:nvSpPr>
          <p:cNvPr id="14" name="Shape 12"/>
          <p:cNvSpPr/>
          <p:nvPr/>
        </p:nvSpPr>
        <p:spPr>
          <a:xfrm>
            <a:off x="9692640" y="4846320"/>
            <a:ext cx="1508760" cy="0"/>
          </a:xfrm>
          <a:prstGeom prst="line">
            <a:avLst/>
          </a:prstGeom>
          <a:noFill/>
          <a:ln w="12700">
            <a:solidFill>
              <a:srgbClr val="1F4A80"/>
            </a:solidFill>
            <a:prstDash val="solid"/>
          </a:ln>
        </p:spPr>
      </p:sp>
      <p:sp>
        <p:nvSpPr>
          <p:cNvPr id="15" name="Shape 13"/>
          <p:cNvSpPr/>
          <p:nvPr/>
        </p:nvSpPr>
        <p:spPr>
          <a:xfrm>
            <a:off x="9692640" y="5349240"/>
            <a:ext cx="1508760" cy="0"/>
          </a:xfrm>
          <a:prstGeom prst="line">
            <a:avLst/>
          </a:prstGeom>
          <a:noFill/>
          <a:ln w="12700">
            <a:solidFill>
              <a:srgbClr val="1F4A80"/>
            </a:solidFill>
            <a:prstDash val="solid"/>
          </a:ln>
        </p:spPr>
      </p:sp>
      <p:sp>
        <p:nvSpPr>
          <p:cNvPr id="16" name="Text 14"/>
          <p:cNvSpPr/>
          <p:nvPr/>
        </p:nvSpPr>
        <p:spPr>
          <a:xfrm>
            <a:off x="640080" y="1051560"/>
            <a:ext cx="8229600" cy="365760"/>
          </a:xfrm>
          <a:prstGeom prst="rect">
            <a:avLst/>
          </a:prstGeom>
          <a:noFill/>
          <a:ln/>
        </p:spPr>
        <p:txBody>
          <a:bodyPr wrap="square" lIns="0" tIns="0" rIns="0" bIns="0" rtlCol="0" anchor="ctr"/>
          <a:lstStyle/>
          <a:p>
            <a:pPr indent="0" marL="0">
              <a:buNone/>
            </a:pPr>
            <a:r>
              <a:rPr lang="en-US" sz="1400" b="1" spc="300" kern="0" dirty="0">
                <a:solidFill>
                  <a:srgbClr val="23D5F2"/>
                </a:solidFill>
                <a:latin typeface="Calibri" pitchFamily="34" charset="0"/>
                <a:ea typeface="Calibri" pitchFamily="34" charset="-122"/>
                <a:cs typeface="Calibri" pitchFamily="34" charset="-120"/>
              </a:rPr>
              <a:t>PROYECTO DE SISTEMAS DIGITALES</a:t>
            </a:r>
            <a:endParaRPr lang="en-US" sz="1400" dirty="0"/>
          </a:p>
        </p:txBody>
      </p:sp>
      <p:sp>
        <p:nvSpPr>
          <p:cNvPr id="17" name="Text 15"/>
          <p:cNvSpPr/>
          <p:nvPr/>
        </p:nvSpPr>
        <p:spPr>
          <a:xfrm>
            <a:off x="640080" y="1463040"/>
            <a:ext cx="9875520" cy="182880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Diseño e Implementación de un</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Candado Digital Básico</a:t>
            </a:r>
            <a:endParaRPr lang="en-US" sz="4000" dirty="0"/>
          </a:p>
        </p:txBody>
      </p:sp>
      <p:sp>
        <p:nvSpPr>
          <p:cNvPr id="18" name="Text 16"/>
          <p:cNvSpPr/>
          <p:nvPr/>
        </p:nvSpPr>
        <p:spPr>
          <a:xfrm>
            <a:off x="640080" y="3246120"/>
            <a:ext cx="9144000" cy="457200"/>
          </a:xfrm>
          <a:prstGeom prst="rect">
            <a:avLst/>
          </a:prstGeom>
          <a:noFill/>
          <a:ln/>
        </p:spPr>
        <p:txBody>
          <a:bodyPr wrap="square" lIns="0" tIns="0" rIns="0" bIns="0" rtlCol="0" anchor="ctr"/>
          <a:lstStyle/>
          <a:p>
            <a:pPr indent="0" marL="0">
              <a:buNone/>
            </a:pPr>
            <a:r>
              <a:rPr lang="en-US" sz="1600" i="1" dirty="0">
                <a:solidFill>
                  <a:srgbClr val="8FE9F7"/>
                </a:solidFill>
                <a:latin typeface="Calibri" pitchFamily="34" charset="0"/>
                <a:ea typeface="Calibri" pitchFamily="34" charset="-122"/>
                <a:cs typeface="Calibri" pitchFamily="34" charset="-120"/>
              </a:rPr>
              <a:t>Anteproyecto de curso · Tecnología en Desarrollo de Software</a:t>
            </a:r>
            <a:endParaRPr lang="en-US" sz="1600" dirty="0"/>
          </a:p>
        </p:txBody>
      </p:sp>
      <p:sp>
        <p:nvSpPr>
          <p:cNvPr id="19" name="Shape 17"/>
          <p:cNvSpPr/>
          <p:nvPr/>
        </p:nvSpPr>
        <p:spPr>
          <a:xfrm>
            <a:off x="640080" y="4160520"/>
            <a:ext cx="3246120" cy="960120"/>
          </a:xfrm>
          <a:prstGeom prst="roundRect">
            <a:avLst>
              <a:gd name="adj" fmla="val 7619"/>
            </a:avLst>
          </a:prstGeom>
          <a:solidFill>
            <a:srgbClr val="13294D"/>
          </a:solidFill>
          <a:ln/>
        </p:spPr>
      </p:sp>
      <p:sp>
        <p:nvSpPr>
          <p:cNvPr id="20" name="Text 18"/>
          <p:cNvSpPr/>
          <p:nvPr/>
        </p:nvSpPr>
        <p:spPr>
          <a:xfrm>
            <a:off x="822960" y="4251960"/>
            <a:ext cx="2880360" cy="274320"/>
          </a:xfrm>
          <a:prstGeom prst="rect">
            <a:avLst/>
          </a:prstGeom>
          <a:noFill/>
          <a:ln/>
        </p:spPr>
        <p:txBody>
          <a:bodyPr wrap="square" lIns="0" tIns="0" rIns="0" bIns="0" rtlCol="0" anchor="ctr"/>
          <a:lstStyle/>
          <a:p>
            <a:pPr indent="0" marL="0">
              <a:buNone/>
            </a:pPr>
            <a:r>
              <a:rPr lang="en-US" sz="1000" b="1" spc="100" kern="0" dirty="0">
                <a:solidFill>
                  <a:srgbClr val="23D5F2"/>
                </a:solidFill>
                <a:latin typeface="Calibri" pitchFamily="34" charset="0"/>
                <a:ea typeface="Calibri" pitchFamily="34" charset="-122"/>
                <a:cs typeface="Calibri" pitchFamily="34" charset="-120"/>
              </a:rPr>
              <a:t>PLATAFORMA</a:t>
            </a:r>
            <a:endParaRPr lang="en-US" sz="1000" dirty="0"/>
          </a:p>
        </p:txBody>
      </p:sp>
      <p:sp>
        <p:nvSpPr>
          <p:cNvPr id="21" name="Text 19"/>
          <p:cNvSpPr/>
          <p:nvPr/>
        </p:nvSpPr>
        <p:spPr>
          <a:xfrm>
            <a:off x="822960" y="4526280"/>
            <a:ext cx="28803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FPGA Nexys 4 (Artix-7)</a:t>
            </a:r>
            <a:endParaRPr lang="en-US" sz="1400" dirty="0"/>
          </a:p>
        </p:txBody>
      </p:sp>
      <p:sp>
        <p:nvSpPr>
          <p:cNvPr id="22" name="Shape 20"/>
          <p:cNvSpPr/>
          <p:nvPr/>
        </p:nvSpPr>
        <p:spPr>
          <a:xfrm>
            <a:off x="4069080" y="4160520"/>
            <a:ext cx="3246120" cy="960120"/>
          </a:xfrm>
          <a:prstGeom prst="roundRect">
            <a:avLst>
              <a:gd name="adj" fmla="val 7619"/>
            </a:avLst>
          </a:prstGeom>
          <a:solidFill>
            <a:srgbClr val="13294D"/>
          </a:solidFill>
          <a:ln/>
        </p:spPr>
      </p:sp>
      <p:sp>
        <p:nvSpPr>
          <p:cNvPr id="23" name="Text 21"/>
          <p:cNvSpPr/>
          <p:nvPr/>
        </p:nvSpPr>
        <p:spPr>
          <a:xfrm>
            <a:off x="4251960" y="4251960"/>
            <a:ext cx="2880360" cy="274320"/>
          </a:xfrm>
          <a:prstGeom prst="rect">
            <a:avLst/>
          </a:prstGeom>
          <a:noFill/>
          <a:ln/>
        </p:spPr>
        <p:txBody>
          <a:bodyPr wrap="square" lIns="0" tIns="0" rIns="0" bIns="0" rtlCol="0" anchor="ctr"/>
          <a:lstStyle/>
          <a:p>
            <a:pPr indent="0" marL="0">
              <a:buNone/>
            </a:pPr>
            <a:r>
              <a:rPr lang="en-US" sz="1000" b="1" spc="100" kern="0" dirty="0">
                <a:solidFill>
                  <a:srgbClr val="23D5F2"/>
                </a:solidFill>
                <a:latin typeface="Calibri" pitchFamily="34" charset="0"/>
                <a:ea typeface="Calibri" pitchFamily="34" charset="-122"/>
                <a:cs typeface="Calibri" pitchFamily="34" charset="-120"/>
              </a:rPr>
              <a:t>ENTORNO</a:t>
            </a:r>
            <a:endParaRPr lang="en-US" sz="1000" dirty="0"/>
          </a:p>
        </p:txBody>
      </p:sp>
      <p:sp>
        <p:nvSpPr>
          <p:cNvPr id="24" name="Text 22"/>
          <p:cNvSpPr/>
          <p:nvPr/>
        </p:nvSpPr>
        <p:spPr>
          <a:xfrm>
            <a:off x="4251960" y="4526280"/>
            <a:ext cx="28803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AMD Vivado</a:t>
            </a:r>
            <a:endParaRPr lang="en-US" sz="1400" dirty="0"/>
          </a:p>
        </p:txBody>
      </p:sp>
      <p:sp>
        <p:nvSpPr>
          <p:cNvPr id="25" name="Shape 23"/>
          <p:cNvSpPr/>
          <p:nvPr/>
        </p:nvSpPr>
        <p:spPr>
          <a:xfrm>
            <a:off x="7498080" y="4160520"/>
            <a:ext cx="3246120" cy="960120"/>
          </a:xfrm>
          <a:prstGeom prst="roundRect">
            <a:avLst>
              <a:gd name="adj" fmla="val 7619"/>
            </a:avLst>
          </a:prstGeom>
          <a:solidFill>
            <a:srgbClr val="13294D"/>
          </a:solidFill>
          <a:ln/>
        </p:spPr>
      </p:sp>
      <p:sp>
        <p:nvSpPr>
          <p:cNvPr id="26" name="Text 24"/>
          <p:cNvSpPr/>
          <p:nvPr/>
        </p:nvSpPr>
        <p:spPr>
          <a:xfrm>
            <a:off x="7680960" y="4251960"/>
            <a:ext cx="2880360" cy="274320"/>
          </a:xfrm>
          <a:prstGeom prst="rect">
            <a:avLst/>
          </a:prstGeom>
          <a:noFill/>
          <a:ln/>
        </p:spPr>
        <p:txBody>
          <a:bodyPr wrap="square" lIns="0" tIns="0" rIns="0" bIns="0" rtlCol="0" anchor="ctr"/>
          <a:lstStyle/>
          <a:p>
            <a:pPr indent="0" marL="0">
              <a:buNone/>
            </a:pPr>
            <a:r>
              <a:rPr lang="en-US" sz="1000" b="1" spc="100" kern="0" dirty="0">
                <a:solidFill>
                  <a:srgbClr val="23D5F2"/>
                </a:solidFill>
                <a:latin typeface="Calibri" pitchFamily="34" charset="0"/>
                <a:ea typeface="Calibri" pitchFamily="34" charset="-122"/>
                <a:cs typeface="Calibri" pitchFamily="34" charset="-120"/>
              </a:rPr>
              <a:t>DESCRIPCIÓN</a:t>
            </a:r>
            <a:endParaRPr lang="en-US" sz="1000" dirty="0"/>
          </a:p>
        </p:txBody>
      </p:sp>
      <p:sp>
        <p:nvSpPr>
          <p:cNvPr id="27" name="Text 25"/>
          <p:cNvSpPr/>
          <p:nvPr/>
        </p:nvSpPr>
        <p:spPr>
          <a:xfrm>
            <a:off x="7680960" y="4526280"/>
            <a:ext cx="28803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VHDL / Verilog</a:t>
            </a:r>
            <a:endParaRPr lang="en-US" sz="1400" dirty="0"/>
          </a:p>
        </p:txBody>
      </p:sp>
      <p:sp>
        <p:nvSpPr>
          <p:cNvPr id="28" name="Text 26"/>
          <p:cNvSpPr/>
          <p:nvPr/>
        </p:nvSpPr>
        <p:spPr>
          <a:xfrm>
            <a:off x="640080" y="5623560"/>
            <a:ext cx="5486400" cy="365760"/>
          </a:xfrm>
          <a:prstGeom prst="rect">
            <a:avLst/>
          </a:prstGeom>
          <a:noFill/>
          <a:ln/>
        </p:spPr>
        <p:txBody>
          <a:bodyPr wrap="square" lIns="0" tIns="0" rIns="0" bIns="0" rtlCol="0" anchor="ctr"/>
          <a:lstStyle/>
          <a:p>
            <a:pPr indent="0" marL="0">
              <a:buNone/>
            </a:pPr>
            <a:r>
              <a:rPr lang="en-US" sz="1200" dirty="0">
                <a:solidFill>
                  <a:srgbClr val="9FB3D1"/>
                </a:solidFill>
                <a:latin typeface="Calibri" pitchFamily="34" charset="0"/>
                <a:ea typeface="Calibri" pitchFamily="34" charset="-122"/>
                <a:cs typeface="Calibri" pitchFamily="34" charset="-120"/>
              </a:rPr>
              <a:t>Septiembre – Noviembre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B3A66"/>
                </a:solidFill>
                <a:latin typeface="Calibri" pitchFamily="34" charset="0"/>
                <a:ea typeface="Calibri" pitchFamily="34" charset="-122"/>
                <a:cs typeface="Calibri" pitchFamily="34" charset="-120"/>
              </a:rPr>
              <a:t>I. OBJETIVOS</a:t>
            </a:r>
            <a:endParaRPr lang="en-US" sz="1300" dirty="0"/>
          </a:p>
        </p:txBody>
      </p:sp>
      <p:sp>
        <p:nvSpPr>
          <p:cNvPr id="3" name="Text 1"/>
          <p:cNvSpPr/>
          <p:nvPr/>
        </p:nvSpPr>
        <p:spPr>
          <a:xfrm>
            <a:off x="548640" y="713232"/>
            <a:ext cx="9144000" cy="640080"/>
          </a:xfrm>
          <a:prstGeom prst="rect">
            <a:avLst/>
          </a:prstGeom>
          <a:noFill/>
          <a:ln/>
        </p:spPr>
        <p:txBody>
          <a:bodyPr wrap="square" lIns="0" tIns="0" rIns="0" bIns="0" rtlCol="0" anchor="ctr"/>
          <a:lstStyle/>
          <a:p>
            <a:pPr indent="0" marL="0">
              <a:buNone/>
            </a:pPr>
            <a:r>
              <a:rPr lang="en-US" sz="3200" b="1" dirty="0">
                <a:solidFill>
                  <a:srgbClr val="0A1830"/>
                </a:solidFill>
                <a:latin typeface="Cambria" pitchFamily="34" charset="0"/>
                <a:ea typeface="Cambria" pitchFamily="34" charset="-122"/>
                <a:cs typeface="Cambria" pitchFamily="34" charset="-120"/>
              </a:rPr>
              <a:t>Objetivo general</a:t>
            </a:r>
            <a:endParaRPr lang="en-US" sz="3200" dirty="0"/>
          </a:p>
        </p:txBody>
      </p:sp>
      <p:sp>
        <p:nvSpPr>
          <p:cNvPr id="4" name="Shape 2"/>
          <p:cNvSpPr/>
          <p:nvPr/>
        </p:nvSpPr>
        <p:spPr>
          <a:xfrm>
            <a:off x="548640" y="1691640"/>
            <a:ext cx="6675120" cy="4206240"/>
          </a:xfrm>
          <a:prstGeom prst="roundRect">
            <a:avLst>
              <a:gd name="adj" fmla="val 2174"/>
            </a:avLst>
          </a:prstGeom>
          <a:solidFill>
            <a:srgbClr val="0A1830"/>
          </a:solidFill>
          <a:ln/>
        </p:spPr>
      </p:sp>
      <p:sp>
        <p:nvSpPr>
          <p:cNvPr id="5" name="Shape 3"/>
          <p:cNvSpPr/>
          <p:nvPr/>
        </p:nvSpPr>
        <p:spPr>
          <a:xfrm>
            <a:off x="868680" y="2011680"/>
            <a:ext cx="502920" cy="502920"/>
          </a:xfrm>
          <a:prstGeom prst="ellipse">
            <a:avLst/>
          </a:prstGeom>
          <a:solidFill>
            <a:srgbClr val="23D5F2"/>
          </a:solidFill>
          <a:ln/>
        </p:spPr>
      </p:sp>
      <p:sp>
        <p:nvSpPr>
          <p:cNvPr id="6" name="Text 4"/>
          <p:cNvSpPr/>
          <p:nvPr/>
        </p:nvSpPr>
        <p:spPr>
          <a:xfrm>
            <a:off x="868680" y="201168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868680" y="2743200"/>
            <a:ext cx="6035040" cy="2926080"/>
          </a:xfrm>
          <a:prstGeom prst="rect">
            <a:avLst/>
          </a:prstGeom>
          <a:noFill/>
          <a:ln/>
        </p:spPr>
        <p:txBody>
          <a:bodyPr wrap="square" lIns="0" tIns="0" rIns="0" bIns="0" rtlCol="0" anchor="ctr"/>
          <a:lstStyle/>
          <a:p>
            <a:pPr indent="0" marL="0">
              <a:lnSpc>
                <a:spcPct val="125000"/>
              </a:lnSpc>
              <a:buNone/>
            </a:pPr>
            <a:r>
              <a:rPr lang="en-US" sz="1800" dirty="0">
                <a:solidFill>
                  <a:srgbClr val="FFFFFF"/>
                </a:solidFill>
                <a:latin typeface="Calibri" pitchFamily="34" charset="0"/>
                <a:ea typeface="Calibri" pitchFamily="34" charset="-122"/>
                <a:cs typeface="Calibri" pitchFamily="34" charset="-120"/>
              </a:rPr>
              <a:t>Diseñar e implementar un sistema básico de candado digital sobre la tarjeta FPGA Nexys 4, capaz de simular un control de acceso sencillo mediante el ingreso de una combinación y la verificación automática de su validez.</a:t>
            </a:r>
            <a:endParaRPr lang="en-US" sz="1800" dirty="0"/>
          </a:p>
        </p:txBody>
      </p:sp>
      <p:sp>
        <p:nvSpPr>
          <p:cNvPr id="8" name="Shape 6"/>
          <p:cNvSpPr/>
          <p:nvPr/>
        </p:nvSpPr>
        <p:spPr>
          <a:xfrm>
            <a:off x="7452360" y="1691640"/>
            <a:ext cx="4160520" cy="4206240"/>
          </a:xfrm>
          <a:prstGeom prst="roundRect">
            <a:avLst>
              <a:gd name="adj" fmla="val 2198"/>
            </a:avLst>
          </a:prstGeom>
          <a:solidFill>
            <a:srgbClr val="F1F5FB"/>
          </a:solidFill>
          <a:ln w="12700">
            <a:solidFill>
              <a:srgbClr val="D7E3F4"/>
            </a:solidFill>
            <a:prstDash val="solid"/>
          </a:ln>
        </p:spPr>
      </p:sp>
      <p:sp>
        <p:nvSpPr>
          <p:cNvPr id="9" name="Text 7"/>
          <p:cNvSpPr/>
          <p:nvPr/>
        </p:nvSpPr>
        <p:spPr>
          <a:xfrm>
            <a:off x="7726680" y="1965960"/>
            <a:ext cx="3657600" cy="320040"/>
          </a:xfrm>
          <a:prstGeom prst="rect">
            <a:avLst/>
          </a:prstGeom>
          <a:noFill/>
          <a:ln/>
        </p:spPr>
        <p:txBody>
          <a:bodyPr wrap="square" lIns="0" tIns="0" rIns="0" bIns="0" rtlCol="0" anchor="ctr"/>
          <a:lstStyle/>
          <a:p>
            <a:pPr indent="0" marL="0">
              <a:buNone/>
            </a:pPr>
            <a:r>
              <a:rPr lang="en-US" sz="1100" b="1" spc="100" kern="0" dirty="0">
                <a:solidFill>
                  <a:srgbClr val="1B3A66"/>
                </a:solidFill>
                <a:latin typeface="Calibri" pitchFamily="34" charset="0"/>
                <a:ea typeface="Calibri" pitchFamily="34" charset="-122"/>
                <a:cs typeface="Calibri" pitchFamily="34" charset="-120"/>
              </a:rPr>
              <a:t>EL SISTEMA EN 3 PALABRAS</a:t>
            </a:r>
            <a:endParaRPr lang="en-US" sz="1100" dirty="0"/>
          </a:p>
        </p:txBody>
      </p:sp>
      <p:sp>
        <p:nvSpPr>
          <p:cNvPr id="10" name="Shape 8"/>
          <p:cNvSpPr/>
          <p:nvPr/>
        </p:nvSpPr>
        <p:spPr>
          <a:xfrm>
            <a:off x="7808976" y="2532888"/>
            <a:ext cx="109728" cy="109728"/>
          </a:xfrm>
          <a:prstGeom prst="ellipse">
            <a:avLst/>
          </a:prstGeom>
          <a:solidFill>
            <a:srgbClr val="23D5F2"/>
          </a:solidFill>
          <a:ln/>
        </p:spPr>
      </p:sp>
      <p:sp>
        <p:nvSpPr>
          <p:cNvPr id="11" name="Text 9"/>
          <p:cNvSpPr/>
          <p:nvPr/>
        </p:nvSpPr>
        <p:spPr>
          <a:xfrm>
            <a:off x="8001000" y="2468880"/>
            <a:ext cx="3383280" cy="292608"/>
          </a:xfrm>
          <a:prstGeom prst="rect">
            <a:avLst/>
          </a:prstGeom>
          <a:noFill/>
          <a:ln/>
        </p:spPr>
        <p:txBody>
          <a:bodyPr wrap="square" lIns="0" tIns="0" rIns="0" bIns="0" rtlCol="0" anchor="ctr"/>
          <a:lstStyle/>
          <a:p>
            <a:pPr indent="0" marL="0">
              <a:buNone/>
            </a:pPr>
            <a:r>
              <a:rPr lang="en-US" sz="1500" b="1" dirty="0">
                <a:solidFill>
                  <a:srgbClr val="0A1830"/>
                </a:solidFill>
                <a:latin typeface="Calibri" pitchFamily="34" charset="0"/>
                <a:ea typeface="Calibri" pitchFamily="34" charset="-122"/>
                <a:cs typeface="Calibri" pitchFamily="34" charset="-120"/>
              </a:rPr>
              <a:t>Simular</a:t>
            </a:r>
            <a:endParaRPr lang="en-US" sz="1500" dirty="0"/>
          </a:p>
        </p:txBody>
      </p:sp>
      <p:sp>
        <p:nvSpPr>
          <p:cNvPr id="12" name="Text 10"/>
          <p:cNvSpPr/>
          <p:nvPr/>
        </p:nvSpPr>
        <p:spPr>
          <a:xfrm>
            <a:off x="8001000" y="2761488"/>
            <a:ext cx="3383280" cy="457200"/>
          </a:xfrm>
          <a:prstGeom prst="rect">
            <a:avLst/>
          </a:prstGeom>
          <a:noFill/>
          <a:ln/>
        </p:spPr>
        <p:txBody>
          <a:bodyPr wrap="square" lIns="0" tIns="0" rIns="0" bIns="0" rtlCol="0" anchor="ctr"/>
          <a:lstStyle/>
          <a:p>
            <a:pPr indent="0" marL="0">
              <a:buNone/>
            </a:pPr>
            <a:r>
              <a:rPr lang="en-US" sz="1200" dirty="0">
                <a:solidFill>
                  <a:srgbClr val="445B7C"/>
                </a:solidFill>
                <a:latin typeface="Calibri" pitchFamily="34" charset="0"/>
                <a:ea typeface="Calibri" pitchFamily="34" charset="-122"/>
                <a:cs typeface="Calibri" pitchFamily="34" charset="-120"/>
              </a:rPr>
              <a:t>un mecanismo de control de acceso real</a:t>
            </a:r>
            <a:endParaRPr lang="en-US" sz="1200" dirty="0"/>
          </a:p>
        </p:txBody>
      </p:sp>
      <p:sp>
        <p:nvSpPr>
          <p:cNvPr id="13" name="Shape 11"/>
          <p:cNvSpPr/>
          <p:nvPr/>
        </p:nvSpPr>
        <p:spPr>
          <a:xfrm>
            <a:off x="7808976" y="3401568"/>
            <a:ext cx="109728" cy="109728"/>
          </a:xfrm>
          <a:prstGeom prst="ellipse">
            <a:avLst/>
          </a:prstGeom>
          <a:solidFill>
            <a:srgbClr val="23D5F2"/>
          </a:solidFill>
          <a:ln/>
        </p:spPr>
      </p:sp>
      <p:sp>
        <p:nvSpPr>
          <p:cNvPr id="14" name="Text 12"/>
          <p:cNvSpPr/>
          <p:nvPr/>
        </p:nvSpPr>
        <p:spPr>
          <a:xfrm>
            <a:off x="8001000" y="3337560"/>
            <a:ext cx="3383280" cy="292608"/>
          </a:xfrm>
          <a:prstGeom prst="rect">
            <a:avLst/>
          </a:prstGeom>
          <a:noFill/>
          <a:ln/>
        </p:spPr>
        <p:txBody>
          <a:bodyPr wrap="square" lIns="0" tIns="0" rIns="0" bIns="0" rtlCol="0" anchor="ctr"/>
          <a:lstStyle/>
          <a:p>
            <a:pPr indent="0" marL="0">
              <a:buNone/>
            </a:pPr>
            <a:r>
              <a:rPr lang="en-US" sz="1500" b="1" dirty="0">
                <a:solidFill>
                  <a:srgbClr val="0A1830"/>
                </a:solidFill>
                <a:latin typeface="Calibri" pitchFamily="34" charset="0"/>
                <a:ea typeface="Calibri" pitchFamily="34" charset="-122"/>
                <a:cs typeface="Calibri" pitchFamily="34" charset="-120"/>
              </a:rPr>
              <a:t>Verificar</a:t>
            </a:r>
            <a:endParaRPr lang="en-US" sz="1500" dirty="0"/>
          </a:p>
        </p:txBody>
      </p:sp>
      <p:sp>
        <p:nvSpPr>
          <p:cNvPr id="15" name="Text 13"/>
          <p:cNvSpPr/>
          <p:nvPr/>
        </p:nvSpPr>
        <p:spPr>
          <a:xfrm>
            <a:off x="8001000" y="3630168"/>
            <a:ext cx="3383280" cy="457200"/>
          </a:xfrm>
          <a:prstGeom prst="rect">
            <a:avLst/>
          </a:prstGeom>
          <a:noFill/>
          <a:ln/>
        </p:spPr>
        <p:txBody>
          <a:bodyPr wrap="square" lIns="0" tIns="0" rIns="0" bIns="0" rtlCol="0" anchor="ctr"/>
          <a:lstStyle/>
          <a:p>
            <a:pPr indent="0" marL="0">
              <a:buNone/>
            </a:pPr>
            <a:r>
              <a:rPr lang="en-US" sz="1200" dirty="0">
                <a:solidFill>
                  <a:srgbClr val="445B7C"/>
                </a:solidFill>
                <a:latin typeface="Calibri" pitchFamily="34" charset="0"/>
                <a:ea typeface="Calibri" pitchFamily="34" charset="-122"/>
                <a:cs typeface="Calibri" pitchFamily="34" charset="-120"/>
              </a:rPr>
              <a:t>la clave ingresada frente a la almacenada</a:t>
            </a:r>
            <a:endParaRPr lang="en-US" sz="1200" dirty="0"/>
          </a:p>
        </p:txBody>
      </p:sp>
      <p:sp>
        <p:nvSpPr>
          <p:cNvPr id="16" name="Shape 14"/>
          <p:cNvSpPr/>
          <p:nvPr/>
        </p:nvSpPr>
        <p:spPr>
          <a:xfrm>
            <a:off x="7808976" y="4270248"/>
            <a:ext cx="109728" cy="109728"/>
          </a:xfrm>
          <a:prstGeom prst="ellipse">
            <a:avLst/>
          </a:prstGeom>
          <a:solidFill>
            <a:srgbClr val="23D5F2"/>
          </a:solidFill>
          <a:ln/>
        </p:spPr>
      </p:sp>
      <p:sp>
        <p:nvSpPr>
          <p:cNvPr id="17" name="Text 15"/>
          <p:cNvSpPr/>
          <p:nvPr/>
        </p:nvSpPr>
        <p:spPr>
          <a:xfrm>
            <a:off x="8001000" y="4206240"/>
            <a:ext cx="3383280" cy="292608"/>
          </a:xfrm>
          <a:prstGeom prst="rect">
            <a:avLst/>
          </a:prstGeom>
          <a:noFill/>
          <a:ln/>
        </p:spPr>
        <p:txBody>
          <a:bodyPr wrap="square" lIns="0" tIns="0" rIns="0" bIns="0" rtlCol="0" anchor="ctr"/>
          <a:lstStyle/>
          <a:p>
            <a:pPr indent="0" marL="0">
              <a:buNone/>
            </a:pPr>
            <a:r>
              <a:rPr lang="en-US" sz="1500" b="1" dirty="0">
                <a:solidFill>
                  <a:srgbClr val="0A1830"/>
                </a:solidFill>
                <a:latin typeface="Calibri" pitchFamily="34" charset="0"/>
                <a:ea typeface="Calibri" pitchFamily="34" charset="-122"/>
                <a:cs typeface="Calibri" pitchFamily="34" charset="-120"/>
              </a:rPr>
              <a:t>Indicar</a:t>
            </a:r>
            <a:endParaRPr lang="en-US" sz="1500" dirty="0"/>
          </a:p>
        </p:txBody>
      </p:sp>
      <p:sp>
        <p:nvSpPr>
          <p:cNvPr id="18" name="Text 16"/>
          <p:cNvSpPr/>
          <p:nvPr/>
        </p:nvSpPr>
        <p:spPr>
          <a:xfrm>
            <a:off x="8001000" y="4498848"/>
            <a:ext cx="3383280" cy="457200"/>
          </a:xfrm>
          <a:prstGeom prst="rect">
            <a:avLst/>
          </a:prstGeom>
          <a:noFill/>
          <a:ln/>
        </p:spPr>
        <p:txBody>
          <a:bodyPr wrap="square" lIns="0" tIns="0" rIns="0" bIns="0" rtlCol="0" anchor="ctr"/>
          <a:lstStyle/>
          <a:p>
            <a:pPr indent="0" marL="0">
              <a:buNone/>
            </a:pPr>
            <a:r>
              <a:rPr lang="en-US" sz="1200" dirty="0">
                <a:solidFill>
                  <a:srgbClr val="445B7C"/>
                </a:solidFill>
                <a:latin typeface="Calibri" pitchFamily="34" charset="0"/>
                <a:ea typeface="Calibri" pitchFamily="34" charset="-122"/>
                <a:cs typeface="Calibri" pitchFamily="34" charset="-120"/>
              </a:rPr>
              <a:t>el resultado mediante LEDs</a:t>
            </a:r>
            <a:endParaRPr lang="en-US" sz="1200" dirty="0"/>
          </a:p>
        </p:txBody>
      </p:sp>
      <p:sp>
        <p:nvSpPr>
          <p:cNvPr id="19" name="Text 17"/>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9FB3D1"/>
                </a:solidFill>
                <a:latin typeface="Calibri" pitchFamily="34" charset="0"/>
                <a:ea typeface="Calibri" pitchFamily="34" charset="-122"/>
                <a:cs typeface="Calibri" pitchFamily="34" charset="-120"/>
              </a:rPr>
              <a:t>Anteproyecto de Curso · Candado Digital sobre FPGA Nexys 4</a:t>
            </a:r>
            <a:endParaRPr lang="en-US" sz="900" dirty="0"/>
          </a:p>
        </p:txBody>
      </p:sp>
      <p:sp>
        <p:nvSpPr>
          <p:cNvPr id="20" name="Text 18"/>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9FB3D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B3A66"/>
                </a:solidFill>
                <a:latin typeface="Calibri" pitchFamily="34" charset="0"/>
                <a:ea typeface="Calibri" pitchFamily="34" charset="-122"/>
                <a:cs typeface="Calibri" pitchFamily="34" charset="-120"/>
              </a:rPr>
              <a:t>I. OBJETIVOS</a:t>
            </a:r>
            <a:endParaRPr lang="en-US" sz="1300" dirty="0"/>
          </a:p>
        </p:txBody>
      </p:sp>
      <p:sp>
        <p:nvSpPr>
          <p:cNvPr id="3" name="Text 1"/>
          <p:cNvSpPr/>
          <p:nvPr/>
        </p:nvSpPr>
        <p:spPr>
          <a:xfrm>
            <a:off x="548640" y="713232"/>
            <a:ext cx="9144000" cy="640080"/>
          </a:xfrm>
          <a:prstGeom prst="rect">
            <a:avLst/>
          </a:prstGeom>
          <a:noFill/>
          <a:ln/>
        </p:spPr>
        <p:txBody>
          <a:bodyPr wrap="square" lIns="0" tIns="0" rIns="0" bIns="0" rtlCol="0" anchor="ctr"/>
          <a:lstStyle/>
          <a:p>
            <a:pPr indent="0" marL="0">
              <a:buNone/>
            </a:pPr>
            <a:r>
              <a:rPr lang="en-US" sz="3200" b="1" dirty="0">
                <a:solidFill>
                  <a:srgbClr val="0A1830"/>
                </a:solidFill>
                <a:latin typeface="Cambria" pitchFamily="34" charset="0"/>
                <a:ea typeface="Cambria" pitchFamily="34" charset="-122"/>
                <a:cs typeface="Cambria" pitchFamily="34" charset="-120"/>
              </a:rPr>
              <a:t>Objetivos específicos</a:t>
            </a:r>
            <a:endParaRPr lang="en-US" sz="3200" dirty="0"/>
          </a:p>
        </p:txBody>
      </p:sp>
      <p:sp>
        <p:nvSpPr>
          <p:cNvPr id="4" name="Shape 2"/>
          <p:cNvSpPr/>
          <p:nvPr/>
        </p:nvSpPr>
        <p:spPr>
          <a:xfrm>
            <a:off x="548640" y="1737360"/>
            <a:ext cx="3611880" cy="4206240"/>
          </a:xfrm>
          <a:prstGeom prst="roundRect">
            <a:avLst>
              <a:gd name="adj" fmla="val 2532"/>
            </a:avLst>
          </a:prstGeom>
          <a:solidFill>
            <a:srgbClr val="13294D"/>
          </a:solidFill>
          <a:ln/>
        </p:spPr>
      </p:sp>
      <p:sp>
        <p:nvSpPr>
          <p:cNvPr id="5" name="Text 3"/>
          <p:cNvSpPr/>
          <p:nvPr/>
        </p:nvSpPr>
        <p:spPr>
          <a:xfrm>
            <a:off x="822960" y="1965960"/>
            <a:ext cx="1828800" cy="640080"/>
          </a:xfrm>
          <a:prstGeom prst="rect">
            <a:avLst/>
          </a:prstGeom>
          <a:noFill/>
          <a:ln/>
        </p:spPr>
        <p:txBody>
          <a:bodyPr wrap="square" lIns="0" tIns="0" rIns="0" bIns="0" rtlCol="0" anchor="ctr"/>
          <a:lstStyle/>
          <a:p>
            <a:pPr indent="0" marL="0">
              <a:buNone/>
            </a:pPr>
            <a:r>
              <a:rPr lang="en-US" sz="3400" b="1" dirty="0">
                <a:solidFill>
                  <a:srgbClr val="23D5F2"/>
                </a:solidFill>
                <a:latin typeface="Cambria" pitchFamily="34" charset="0"/>
                <a:ea typeface="Cambria" pitchFamily="34" charset="-122"/>
                <a:cs typeface="Cambria" pitchFamily="34" charset="-120"/>
              </a:rPr>
              <a:t>01</a:t>
            </a:r>
            <a:endParaRPr lang="en-US" sz="3400" dirty="0"/>
          </a:p>
        </p:txBody>
      </p:sp>
      <p:sp>
        <p:nvSpPr>
          <p:cNvPr id="6" name="Shape 4"/>
          <p:cNvSpPr/>
          <p:nvPr/>
        </p:nvSpPr>
        <p:spPr>
          <a:xfrm>
            <a:off x="822960" y="2697480"/>
            <a:ext cx="3063240" cy="0"/>
          </a:xfrm>
          <a:prstGeom prst="line">
            <a:avLst/>
          </a:prstGeom>
          <a:noFill/>
          <a:ln w="12700">
            <a:solidFill>
              <a:srgbClr val="2C5A94"/>
            </a:solidFill>
            <a:prstDash val="solid"/>
          </a:ln>
        </p:spPr>
      </p:sp>
      <p:sp>
        <p:nvSpPr>
          <p:cNvPr id="7" name="Text 5"/>
          <p:cNvSpPr/>
          <p:nvPr/>
        </p:nvSpPr>
        <p:spPr>
          <a:xfrm>
            <a:off x="822960" y="2834640"/>
            <a:ext cx="306324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Entradas físicas</a:t>
            </a:r>
            <a:endParaRPr lang="en-US" sz="1700" dirty="0"/>
          </a:p>
        </p:txBody>
      </p:sp>
      <p:sp>
        <p:nvSpPr>
          <p:cNvPr id="8" name="Text 6"/>
          <p:cNvSpPr/>
          <p:nvPr/>
        </p:nvSpPr>
        <p:spPr>
          <a:xfrm>
            <a:off x="822960" y="3429000"/>
            <a:ext cx="3063240" cy="2286000"/>
          </a:xfrm>
          <a:prstGeom prst="rect">
            <a:avLst/>
          </a:prstGeom>
          <a:noFill/>
          <a:ln/>
        </p:spPr>
        <p:txBody>
          <a:bodyPr wrap="square" lIns="0" tIns="0" rIns="0" bIns="0" rtlCol="0" anchor="ctr"/>
          <a:lstStyle/>
          <a:p>
            <a:pPr indent="0" marL="0">
              <a:lnSpc>
                <a:spcPct val="120000"/>
              </a:lnSpc>
              <a:buNone/>
            </a:pPr>
            <a:r>
              <a:rPr lang="en-US" sz="1300" dirty="0">
                <a:solidFill>
                  <a:srgbClr val="8FE9F7"/>
                </a:solidFill>
                <a:latin typeface="Calibri" pitchFamily="34" charset="0"/>
                <a:ea typeface="Calibri" pitchFamily="34" charset="-122"/>
                <a:cs typeface="Calibri" pitchFamily="34" charset="-120"/>
              </a:rPr>
              <a:t>Configurar los switches y botones de la tarjeta para permitir el ingreso de la clave de acceso por parte del usuario.</a:t>
            </a:r>
            <a:endParaRPr lang="en-US" sz="1300" dirty="0"/>
          </a:p>
        </p:txBody>
      </p:sp>
      <p:sp>
        <p:nvSpPr>
          <p:cNvPr id="9" name="Shape 7"/>
          <p:cNvSpPr/>
          <p:nvPr/>
        </p:nvSpPr>
        <p:spPr>
          <a:xfrm>
            <a:off x="4389120" y="1737360"/>
            <a:ext cx="3611880" cy="4206240"/>
          </a:xfrm>
          <a:prstGeom prst="roundRect">
            <a:avLst>
              <a:gd name="adj" fmla="val 2532"/>
            </a:avLst>
          </a:prstGeom>
          <a:solidFill>
            <a:srgbClr val="0F2A52"/>
          </a:solidFill>
          <a:ln/>
        </p:spPr>
      </p:sp>
      <p:sp>
        <p:nvSpPr>
          <p:cNvPr id="10" name="Text 8"/>
          <p:cNvSpPr/>
          <p:nvPr/>
        </p:nvSpPr>
        <p:spPr>
          <a:xfrm>
            <a:off x="4663440" y="1965960"/>
            <a:ext cx="1828800" cy="640080"/>
          </a:xfrm>
          <a:prstGeom prst="rect">
            <a:avLst/>
          </a:prstGeom>
          <a:noFill/>
          <a:ln/>
        </p:spPr>
        <p:txBody>
          <a:bodyPr wrap="square" lIns="0" tIns="0" rIns="0" bIns="0" rtlCol="0" anchor="ctr"/>
          <a:lstStyle/>
          <a:p>
            <a:pPr indent="0" marL="0">
              <a:buNone/>
            </a:pPr>
            <a:r>
              <a:rPr lang="en-US" sz="3400" b="1" dirty="0">
                <a:solidFill>
                  <a:srgbClr val="23D5F2"/>
                </a:solidFill>
                <a:latin typeface="Cambria" pitchFamily="34" charset="0"/>
                <a:ea typeface="Cambria" pitchFamily="34" charset="-122"/>
                <a:cs typeface="Cambria" pitchFamily="34" charset="-120"/>
              </a:rPr>
              <a:t>02</a:t>
            </a:r>
            <a:endParaRPr lang="en-US" sz="3400" dirty="0"/>
          </a:p>
        </p:txBody>
      </p:sp>
      <p:sp>
        <p:nvSpPr>
          <p:cNvPr id="11" name="Shape 9"/>
          <p:cNvSpPr/>
          <p:nvPr/>
        </p:nvSpPr>
        <p:spPr>
          <a:xfrm>
            <a:off x="4663440" y="2697480"/>
            <a:ext cx="3063240" cy="0"/>
          </a:xfrm>
          <a:prstGeom prst="line">
            <a:avLst/>
          </a:prstGeom>
          <a:noFill/>
          <a:ln w="12700">
            <a:solidFill>
              <a:srgbClr val="2C5A94"/>
            </a:solidFill>
            <a:prstDash val="solid"/>
          </a:ln>
        </p:spPr>
      </p:sp>
      <p:sp>
        <p:nvSpPr>
          <p:cNvPr id="12" name="Text 10"/>
          <p:cNvSpPr/>
          <p:nvPr/>
        </p:nvSpPr>
        <p:spPr>
          <a:xfrm>
            <a:off x="4663440" y="2834640"/>
            <a:ext cx="306324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Lógica de control (FSM)</a:t>
            </a:r>
            <a:endParaRPr lang="en-US" sz="1700" dirty="0"/>
          </a:p>
        </p:txBody>
      </p:sp>
      <p:sp>
        <p:nvSpPr>
          <p:cNvPr id="13" name="Text 11"/>
          <p:cNvSpPr/>
          <p:nvPr/>
        </p:nvSpPr>
        <p:spPr>
          <a:xfrm>
            <a:off x="4663440" y="3429000"/>
            <a:ext cx="3063240" cy="2286000"/>
          </a:xfrm>
          <a:prstGeom prst="rect">
            <a:avLst/>
          </a:prstGeom>
          <a:noFill/>
          <a:ln/>
        </p:spPr>
        <p:txBody>
          <a:bodyPr wrap="square" lIns="0" tIns="0" rIns="0" bIns="0" rtlCol="0" anchor="ctr"/>
          <a:lstStyle/>
          <a:p>
            <a:pPr indent="0" marL="0">
              <a:lnSpc>
                <a:spcPct val="120000"/>
              </a:lnSpc>
              <a:buNone/>
            </a:pPr>
            <a:r>
              <a:rPr lang="en-US" sz="1300" dirty="0">
                <a:solidFill>
                  <a:srgbClr val="8FE9F7"/>
                </a:solidFill>
                <a:latin typeface="Calibri" pitchFamily="34" charset="0"/>
                <a:ea typeface="Calibri" pitchFamily="34" charset="-122"/>
                <a:cs typeface="Calibri" pitchFamily="34" charset="-120"/>
              </a:rPr>
              <a:t>Diseñar una máquina de estados finitos básica encargada de verificar si la clave ingresada es correcta o incorrecta.</a:t>
            </a:r>
            <a:endParaRPr lang="en-US" sz="1300" dirty="0"/>
          </a:p>
        </p:txBody>
      </p:sp>
      <p:sp>
        <p:nvSpPr>
          <p:cNvPr id="14" name="Shape 12"/>
          <p:cNvSpPr/>
          <p:nvPr/>
        </p:nvSpPr>
        <p:spPr>
          <a:xfrm>
            <a:off x="8229600" y="1737360"/>
            <a:ext cx="3611880" cy="4206240"/>
          </a:xfrm>
          <a:prstGeom prst="roundRect">
            <a:avLst>
              <a:gd name="adj" fmla="val 2532"/>
            </a:avLst>
          </a:prstGeom>
          <a:solidFill>
            <a:srgbClr val="142F5C"/>
          </a:solidFill>
          <a:ln/>
        </p:spPr>
      </p:sp>
      <p:sp>
        <p:nvSpPr>
          <p:cNvPr id="15" name="Text 13"/>
          <p:cNvSpPr/>
          <p:nvPr/>
        </p:nvSpPr>
        <p:spPr>
          <a:xfrm>
            <a:off x="8503920" y="1965960"/>
            <a:ext cx="1828800" cy="640080"/>
          </a:xfrm>
          <a:prstGeom prst="rect">
            <a:avLst/>
          </a:prstGeom>
          <a:noFill/>
          <a:ln/>
        </p:spPr>
        <p:txBody>
          <a:bodyPr wrap="square" lIns="0" tIns="0" rIns="0" bIns="0" rtlCol="0" anchor="ctr"/>
          <a:lstStyle/>
          <a:p>
            <a:pPr indent="0" marL="0">
              <a:buNone/>
            </a:pPr>
            <a:r>
              <a:rPr lang="en-US" sz="3400" b="1" dirty="0">
                <a:solidFill>
                  <a:srgbClr val="23D5F2"/>
                </a:solidFill>
                <a:latin typeface="Cambria" pitchFamily="34" charset="0"/>
                <a:ea typeface="Cambria" pitchFamily="34" charset="-122"/>
                <a:cs typeface="Cambria" pitchFamily="34" charset="-120"/>
              </a:rPr>
              <a:t>03</a:t>
            </a:r>
            <a:endParaRPr lang="en-US" sz="3400" dirty="0"/>
          </a:p>
        </p:txBody>
      </p:sp>
      <p:sp>
        <p:nvSpPr>
          <p:cNvPr id="16" name="Shape 14"/>
          <p:cNvSpPr/>
          <p:nvPr/>
        </p:nvSpPr>
        <p:spPr>
          <a:xfrm>
            <a:off x="8503920" y="2697480"/>
            <a:ext cx="3063240" cy="0"/>
          </a:xfrm>
          <a:prstGeom prst="line">
            <a:avLst/>
          </a:prstGeom>
          <a:noFill/>
          <a:ln w="12700">
            <a:solidFill>
              <a:srgbClr val="2C5A94"/>
            </a:solidFill>
            <a:prstDash val="solid"/>
          </a:ln>
        </p:spPr>
      </p:sp>
      <p:sp>
        <p:nvSpPr>
          <p:cNvPr id="17" name="Text 15"/>
          <p:cNvSpPr/>
          <p:nvPr/>
        </p:nvSpPr>
        <p:spPr>
          <a:xfrm>
            <a:off x="8503920" y="2834640"/>
            <a:ext cx="306324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Indicación visual</a:t>
            </a:r>
            <a:endParaRPr lang="en-US" sz="1700" dirty="0"/>
          </a:p>
        </p:txBody>
      </p:sp>
      <p:sp>
        <p:nvSpPr>
          <p:cNvPr id="18" name="Text 16"/>
          <p:cNvSpPr/>
          <p:nvPr/>
        </p:nvSpPr>
        <p:spPr>
          <a:xfrm>
            <a:off x="8503920" y="3429000"/>
            <a:ext cx="3063240" cy="2286000"/>
          </a:xfrm>
          <a:prstGeom prst="rect">
            <a:avLst/>
          </a:prstGeom>
          <a:noFill/>
          <a:ln/>
        </p:spPr>
        <p:txBody>
          <a:bodyPr wrap="square" lIns="0" tIns="0" rIns="0" bIns="0" rtlCol="0" anchor="ctr"/>
          <a:lstStyle/>
          <a:p>
            <a:pPr indent="0" marL="0">
              <a:lnSpc>
                <a:spcPct val="120000"/>
              </a:lnSpc>
              <a:buNone/>
            </a:pPr>
            <a:r>
              <a:rPr lang="en-US" sz="1300" dirty="0">
                <a:solidFill>
                  <a:srgbClr val="8FE9F7"/>
                </a:solidFill>
                <a:latin typeface="Calibri" pitchFamily="34" charset="0"/>
                <a:ea typeface="Calibri" pitchFamily="34" charset="-122"/>
                <a:cs typeface="Calibri" pitchFamily="34" charset="-120"/>
              </a:rPr>
              <a:t>Mostrar el resultado de la validación —acceso permitido o denegado— a través de los LEDs integrados en la Nexys 4.</a:t>
            </a:r>
            <a:endParaRPr lang="en-US" sz="1300" dirty="0"/>
          </a:p>
        </p:txBody>
      </p:sp>
      <p:sp>
        <p:nvSpPr>
          <p:cNvPr id="19" name="Text 17"/>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9FB3D1"/>
                </a:solidFill>
                <a:latin typeface="Calibri" pitchFamily="34" charset="0"/>
                <a:ea typeface="Calibri" pitchFamily="34" charset="-122"/>
                <a:cs typeface="Calibri" pitchFamily="34" charset="-120"/>
              </a:rPr>
              <a:t>Anteproyecto de Curso · Candado Digital sobre FPGA Nexys 4</a:t>
            </a:r>
            <a:endParaRPr lang="en-US" sz="900" dirty="0"/>
          </a:p>
        </p:txBody>
      </p:sp>
      <p:sp>
        <p:nvSpPr>
          <p:cNvPr id="20" name="Text 18"/>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9FB3D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830"/>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23D5F2"/>
                </a:solidFill>
                <a:latin typeface="Calibri" pitchFamily="34" charset="0"/>
                <a:ea typeface="Calibri" pitchFamily="34" charset="-122"/>
                <a:cs typeface="Calibri" pitchFamily="34" charset="-120"/>
              </a:rPr>
              <a:t>II. JUSTIFICACIÓN</a:t>
            </a:r>
            <a:endParaRPr lang="en-US" sz="1300" dirty="0"/>
          </a:p>
        </p:txBody>
      </p:sp>
      <p:sp>
        <p:nvSpPr>
          <p:cNvPr id="3" name="Text 1"/>
          <p:cNvSpPr/>
          <p:nvPr/>
        </p:nvSpPr>
        <p:spPr>
          <a:xfrm>
            <a:off x="548640" y="713232"/>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¿Por qué este proyecto?</a:t>
            </a:r>
            <a:endParaRPr lang="en-US" sz="3200" dirty="0"/>
          </a:p>
        </p:txBody>
      </p:sp>
      <p:sp>
        <p:nvSpPr>
          <p:cNvPr id="4" name="Text 2"/>
          <p:cNvSpPr/>
          <p:nvPr/>
        </p:nvSpPr>
        <p:spPr>
          <a:xfrm>
            <a:off x="548640" y="1600200"/>
            <a:ext cx="6035040" cy="219456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Los sistemas de control de acceso por clave numérica son un componente común en aplicaciones reales, como cerraduras electrónicas, cajas de seguridad o sistemas de ingreso a espacios restringidos. Su lógica central puede reducirse a comparar una entrada del usuario contra un valor almacenado y responder según el resultado.</a:t>
            </a:r>
            <a:endParaRPr lang="en-US" sz="1500" dirty="0"/>
          </a:p>
        </p:txBody>
      </p:sp>
      <p:sp>
        <p:nvSpPr>
          <p:cNvPr id="5" name="Text 3"/>
          <p:cNvSpPr/>
          <p:nvPr/>
        </p:nvSpPr>
        <p:spPr>
          <a:xfrm>
            <a:off x="548640" y="3749040"/>
            <a:ext cx="6035040" cy="2011680"/>
          </a:xfrm>
          <a:prstGeom prst="rect">
            <a:avLst/>
          </a:prstGeom>
          <a:noFill/>
          <a:ln/>
        </p:spPr>
        <p:txBody>
          <a:bodyPr wrap="square" lIns="0" tIns="0" rIns="0" bIns="0" rtlCol="0" anchor="ctr"/>
          <a:lstStyle/>
          <a:p>
            <a:pPr indent="0" marL="0">
              <a:lnSpc>
                <a:spcPct val="130000"/>
              </a:lnSpc>
              <a:buNone/>
            </a:pPr>
            <a:r>
              <a:rPr lang="en-US" sz="1500" dirty="0">
                <a:solidFill>
                  <a:srgbClr val="8FE9F7"/>
                </a:solidFill>
                <a:latin typeface="Calibri" pitchFamily="34" charset="0"/>
                <a:ea typeface="Calibri" pitchFamily="34" charset="-122"/>
                <a:cs typeface="Calibri" pitchFamily="34" charset="-120"/>
              </a:rPr>
              <a:t>Trabajar con entradas y salidas físicas y con una máquina de estados como núcleo de control permite comprender de forma concreta conceptos que normalmente se abordan de manera teórica: estados, transiciones, y la diferencia entre lógica combinacional y secuencial.</a:t>
            </a:r>
            <a:endParaRPr lang="en-US" sz="1500" dirty="0"/>
          </a:p>
        </p:txBody>
      </p:sp>
      <p:sp>
        <p:nvSpPr>
          <p:cNvPr id="6" name="Shape 4"/>
          <p:cNvSpPr/>
          <p:nvPr/>
        </p:nvSpPr>
        <p:spPr>
          <a:xfrm>
            <a:off x="6949440" y="1600200"/>
            <a:ext cx="4663440" cy="4297680"/>
          </a:xfrm>
          <a:prstGeom prst="roundRect">
            <a:avLst>
              <a:gd name="adj" fmla="val 2128"/>
            </a:avLst>
          </a:prstGeom>
          <a:solidFill>
            <a:srgbClr val="13294D"/>
          </a:solidFill>
          <a:ln/>
        </p:spPr>
      </p:sp>
      <p:sp>
        <p:nvSpPr>
          <p:cNvPr id="7" name="Text 5"/>
          <p:cNvSpPr/>
          <p:nvPr/>
        </p:nvSpPr>
        <p:spPr>
          <a:xfrm>
            <a:off x="7223760" y="1828800"/>
            <a:ext cx="4114800" cy="320040"/>
          </a:xfrm>
          <a:prstGeom prst="rect">
            <a:avLst/>
          </a:prstGeom>
          <a:noFill/>
          <a:ln/>
        </p:spPr>
        <p:txBody>
          <a:bodyPr wrap="square" lIns="0" tIns="0" rIns="0" bIns="0" rtlCol="0" anchor="ctr"/>
          <a:lstStyle/>
          <a:p>
            <a:pPr indent="0" marL="0">
              <a:buNone/>
            </a:pPr>
            <a:r>
              <a:rPr lang="en-US" sz="1100" b="1" spc="100" kern="0" dirty="0">
                <a:solidFill>
                  <a:srgbClr val="23D5F2"/>
                </a:solidFill>
                <a:latin typeface="Calibri" pitchFamily="34" charset="0"/>
                <a:ea typeface="Calibri" pitchFamily="34" charset="-122"/>
                <a:cs typeface="Calibri" pitchFamily="34" charset="-120"/>
              </a:rPr>
              <a:t>APLICACIONES REALES DEL CONCEPTO</a:t>
            </a:r>
            <a:endParaRPr lang="en-US" sz="1100" dirty="0"/>
          </a:p>
        </p:txBody>
      </p:sp>
      <p:sp>
        <p:nvSpPr>
          <p:cNvPr id="8" name="Shape 6"/>
          <p:cNvSpPr/>
          <p:nvPr/>
        </p:nvSpPr>
        <p:spPr>
          <a:xfrm>
            <a:off x="7223760" y="2331720"/>
            <a:ext cx="4114800" cy="777240"/>
          </a:xfrm>
          <a:prstGeom prst="roundRect">
            <a:avLst>
              <a:gd name="adj" fmla="val 9412"/>
            </a:avLst>
          </a:prstGeom>
          <a:solidFill>
            <a:srgbClr val="1B3A66"/>
          </a:solidFill>
          <a:ln/>
        </p:spPr>
      </p:sp>
      <p:sp>
        <p:nvSpPr>
          <p:cNvPr id="9" name="Shape 7"/>
          <p:cNvSpPr/>
          <p:nvPr/>
        </p:nvSpPr>
        <p:spPr>
          <a:xfrm>
            <a:off x="7493508" y="2665476"/>
            <a:ext cx="100584" cy="100584"/>
          </a:xfrm>
          <a:prstGeom prst="ellipse">
            <a:avLst/>
          </a:prstGeom>
          <a:solidFill>
            <a:srgbClr val="23D5F2"/>
          </a:solidFill>
          <a:ln/>
        </p:spPr>
      </p:sp>
      <p:sp>
        <p:nvSpPr>
          <p:cNvPr id="10" name="Text 8"/>
          <p:cNvSpPr/>
          <p:nvPr/>
        </p:nvSpPr>
        <p:spPr>
          <a:xfrm>
            <a:off x="7726680" y="2331720"/>
            <a:ext cx="347472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Cerraduras electrónicas</a:t>
            </a:r>
            <a:endParaRPr lang="en-US" sz="1400" dirty="0"/>
          </a:p>
        </p:txBody>
      </p:sp>
      <p:sp>
        <p:nvSpPr>
          <p:cNvPr id="11" name="Shape 9"/>
          <p:cNvSpPr/>
          <p:nvPr/>
        </p:nvSpPr>
        <p:spPr>
          <a:xfrm>
            <a:off x="7223760" y="3291840"/>
            <a:ext cx="4114800" cy="777240"/>
          </a:xfrm>
          <a:prstGeom prst="roundRect">
            <a:avLst>
              <a:gd name="adj" fmla="val 9412"/>
            </a:avLst>
          </a:prstGeom>
          <a:solidFill>
            <a:srgbClr val="1B3A66"/>
          </a:solidFill>
          <a:ln/>
        </p:spPr>
      </p:sp>
      <p:sp>
        <p:nvSpPr>
          <p:cNvPr id="12" name="Shape 10"/>
          <p:cNvSpPr/>
          <p:nvPr/>
        </p:nvSpPr>
        <p:spPr>
          <a:xfrm>
            <a:off x="7493508" y="3625596"/>
            <a:ext cx="100584" cy="100584"/>
          </a:xfrm>
          <a:prstGeom prst="ellipse">
            <a:avLst/>
          </a:prstGeom>
          <a:solidFill>
            <a:srgbClr val="23D5F2"/>
          </a:solidFill>
          <a:ln/>
        </p:spPr>
      </p:sp>
      <p:sp>
        <p:nvSpPr>
          <p:cNvPr id="13" name="Text 11"/>
          <p:cNvSpPr/>
          <p:nvPr/>
        </p:nvSpPr>
        <p:spPr>
          <a:xfrm>
            <a:off x="7726680" y="3291840"/>
            <a:ext cx="347472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Cajas de seguridad</a:t>
            </a:r>
            <a:endParaRPr lang="en-US" sz="1400" dirty="0"/>
          </a:p>
        </p:txBody>
      </p:sp>
      <p:sp>
        <p:nvSpPr>
          <p:cNvPr id="14" name="Shape 12"/>
          <p:cNvSpPr/>
          <p:nvPr/>
        </p:nvSpPr>
        <p:spPr>
          <a:xfrm>
            <a:off x="7223760" y="4251960"/>
            <a:ext cx="4114800" cy="777240"/>
          </a:xfrm>
          <a:prstGeom prst="roundRect">
            <a:avLst>
              <a:gd name="adj" fmla="val 9412"/>
            </a:avLst>
          </a:prstGeom>
          <a:solidFill>
            <a:srgbClr val="1B3A66"/>
          </a:solidFill>
          <a:ln/>
        </p:spPr>
      </p:sp>
      <p:sp>
        <p:nvSpPr>
          <p:cNvPr id="15" name="Shape 13"/>
          <p:cNvSpPr/>
          <p:nvPr/>
        </p:nvSpPr>
        <p:spPr>
          <a:xfrm>
            <a:off x="7493508" y="4585716"/>
            <a:ext cx="100584" cy="100584"/>
          </a:xfrm>
          <a:prstGeom prst="ellipse">
            <a:avLst/>
          </a:prstGeom>
          <a:solidFill>
            <a:srgbClr val="23D5F2"/>
          </a:solidFill>
          <a:ln/>
        </p:spPr>
      </p:sp>
      <p:sp>
        <p:nvSpPr>
          <p:cNvPr id="16" name="Text 14"/>
          <p:cNvSpPr/>
          <p:nvPr/>
        </p:nvSpPr>
        <p:spPr>
          <a:xfrm>
            <a:off x="7726680" y="4251960"/>
            <a:ext cx="347472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Ingreso a espacios restringidos</a:t>
            </a:r>
            <a:endParaRPr lang="en-US" sz="1400" dirty="0"/>
          </a:p>
        </p:txBody>
      </p:sp>
      <p:sp>
        <p:nvSpPr>
          <p:cNvPr id="17" name="Text 15"/>
          <p:cNvSpPr/>
          <p:nvPr/>
        </p:nvSpPr>
        <p:spPr>
          <a:xfrm>
            <a:off x="7223760" y="5257800"/>
            <a:ext cx="4114800" cy="548640"/>
          </a:xfrm>
          <a:prstGeom prst="rect">
            <a:avLst/>
          </a:prstGeom>
          <a:noFill/>
          <a:ln/>
        </p:spPr>
        <p:txBody>
          <a:bodyPr wrap="square" lIns="0" tIns="0" rIns="0" bIns="0" rtlCol="0" anchor="ctr"/>
          <a:lstStyle/>
          <a:p>
            <a:pPr indent="0" marL="0">
              <a:buNone/>
            </a:pPr>
            <a:r>
              <a:rPr lang="en-US" sz="1100" i="1" dirty="0">
                <a:solidFill>
                  <a:srgbClr val="9FB3D1"/>
                </a:solidFill>
                <a:latin typeface="Calibri" pitchFamily="34" charset="0"/>
                <a:ea typeface="Calibri" pitchFamily="34" charset="-122"/>
                <a:cs typeface="Calibri" pitchFamily="34" charset="-120"/>
              </a:rPr>
              <a:t>Valor: práctico + conceptual, base de temas avanzados en arquitectura de computadores.</a:t>
            </a:r>
            <a:endParaRPr lang="en-US" sz="1100" dirty="0"/>
          </a:p>
        </p:txBody>
      </p:sp>
      <p:sp>
        <p:nvSpPr>
          <p:cNvPr id="18" name="Text 16"/>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9FB3D1"/>
                </a:solidFill>
                <a:latin typeface="Calibri" pitchFamily="34" charset="0"/>
                <a:ea typeface="Calibri" pitchFamily="34" charset="-122"/>
                <a:cs typeface="Calibri" pitchFamily="34" charset="-120"/>
              </a:rPr>
              <a:t>Anteproyecto de Curso · Candado Digital sobre FPGA Nexys 4</a:t>
            </a:r>
            <a:endParaRPr lang="en-US" sz="900" dirty="0"/>
          </a:p>
        </p:txBody>
      </p:sp>
      <p:sp>
        <p:nvSpPr>
          <p:cNvPr id="19" name="Text 17"/>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9FB3D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B3A66"/>
                </a:solidFill>
                <a:latin typeface="Calibri" pitchFamily="34" charset="0"/>
                <a:ea typeface="Calibri" pitchFamily="34" charset="-122"/>
                <a:cs typeface="Calibri" pitchFamily="34" charset="-120"/>
              </a:rPr>
              <a:t>III. MARCO TEÓRICO</a:t>
            </a:r>
            <a:endParaRPr lang="en-US" sz="1300" dirty="0"/>
          </a:p>
        </p:txBody>
      </p:sp>
      <p:sp>
        <p:nvSpPr>
          <p:cNvPr id="3" name="Text 1"/>
          <p:cNvSpPr/>
          <p:nvPr/>
        </p:nvSpPr>
        <p:spPr>
          <a:xfrm>
            <a:off x="548640" y="713232"/>
            <a:ext cx="10058400" cy="640080"/>
          </a:xfrm>
          <a:prstGeom prst="rect">
            <a:avLst/>
          </a:prstGeom>
          <a:noFill/>
          <a:ln/>
        </p:spPr>
        <p:txBody>
          <a:bodyPr wrap="square" lIns="0" tIns="0" rIns="0" bIns="0" rtlCol="0" anchor="ctr"/>
          <a:lstStyle/>
          <a:p>
            <a:pPr indent="0" marL="0">
              <a:buNone/>
            </a:pPr>
            <a:r>
              <a:rPr lang="en-US" sz="3000" b="1" dirty="0">
                <a:solidFill>
                  <a:srgbClr val="0A1830"/>
                </a:solidFill>
                <a:latin typeface="Cambria" pitchFamily="34" charset="0"/>
                <a:ea typeface="Cambria" pitchFamily="34" charset="-122"/>
                <a:cs typeface="Cambria" pitchFamily="34" charset="-120"/>
              </a:rPr>
              <a:t>Máquina de Estados Finitos (FSM)</a:t>
            </a:r>
            <a:endParaRPr lang="en-US" sz="3000" dirty="0"/>
          </a:p>
        </p:txBody>
      </p:sp>
      <p:sp>
        <p:nvSpPr>
          <p:cNvPr id="4" name="Text 2"/>
          <p:cNvSpPr/>
          <p:nvPr/>
        </p:nvSpPr>
        <p:spPr>
          <a:xfrm>
            <a:off x="548640" y="1417320"/>
            <a:ext cx="6858000" cy="1234440"/>
          </a:xfrm>
          <a:prstGeom prst="rect">
            <a:avLst/>
          </a:prstGeom>
          <a:noFill/>
          <a:ln/>
        </p:spPr>
        <p:txBody>
          <a:bodyPr wrap="square" lIns="0" tIns="0" rIns="0" bIns="0" rtlCol="0" anchor="ctr"/>
          <a:lstStyle/>
          <a:p>
            <a:pPr indent="0" marL="0">
              <a:lnSpc>
                <a:spcPct val="125000"/>
              </a:lnSpc>
              <a:buNone/>
            </a:pPr>
            <a:r>
              <a:rPr lang="en-US" sz="1400" dirty="0">
                <a:solidFill>
                  <a:srgbClr val="445B7C"/>
                </a:solidFill>
                <a:latin typeface="Calibri" pitchFamily="34" charset="0"/>
                <a:ea typeface="Calibri" pitchFamily="34" charset="-122"/>
                <a:cs typeface="Calibri" pitchFamily="34" charset="-120"/>
              </a:rPr>
              <a:t>Modelo que describe el comportamiento de un sistema que solo puede encontrarse en un número limitado de estados a la vez, y que transita entre ellos según eventos concretos —como pulsar el botón de validación.</a:t>
            </a:r>
            <a:endParaRPr lang="en-US" sz="1400" dirty="0"/>
          </a:p>
        </p:txBody>
      </p:sp>
      <p:sp>
        <p:nvSpPr>
          <p:cNvPr id="5" name="Shape 3"/>
          <p:cNvSpPr/>
          <p:nvPr/>
        </p:nvSpPr>
        <p:spPr>
          <a:xfrm>
            <a:off x="548640" y="2834640"/>
            <a:ext cx="2468880" cy="1280160"/>
          </a:xfrm>
          <a:prstGeom prst="roundRect">
            <a:avLst>
              <a:gd name="adj" fmla="val 7143"/>
            </a:avLst>
          </a:prstGeom>
          <a:solidFill>
            <a:srgbClr val="1B3A66"/>
          </a:solidFill>
          <a:ln/>
        </p:spPr>
      </p:sp>
      <p:sp>
        <p:nvSpPr>
          <p:cNvPr id="6" name="Text 4"/>
          <p:cNvSpPr/>
          <p:nvPr/>
        </p:nvSpPr>
        <p:spPr>
          <a:xfrm>
            <a:off x="548640" y="2999232"/>
            <a:ext cx="2468880" cy="365760"/>
          </a:xfrm>
          <a:prstGeom prst="rect">
            <a:avLst/>
          </a:prstGeom>
          <a:noFill/>
          <a:ln/>
        </p:spPr>
        <p:txBody>
          <a:bodyPr wrap="square" lIns="0" tIns="0" rIns="0" bIns="0" rtlCol="0" anchor="ctr"/>
          <a:lstStyle/>
          <a:p>
            <a:pPr algn="ctr" indent="0" marL="0">
              <a:buNone/>
            </a:pPr>
            <a:r>
              <a:rPr lang="en-US" sz="1500" b="1" dirty="0">
                <a:solidFill>
                  <a:srgbClr val="23D5F2"/>
                </a:solidFill>
                <a:latin typeface="Calibri" pitchFamily="34" charset="0"/>
                <a:ea typeface="Calibri" pitchFamily="34" charset="-122"/>
                <a:cs typeface="Calibri" pitchFamily="34" charset="-120"/>
              </a:rPr>
              <a:t>ESPERA</a:t>
            </a:r>
            <a:endParaRPr lang="en-US" sz="1500" dirty="0"/>
          </a:p>
        </p:txBody>
      </p:sp>
      <p:sp>
        <p:nvSpPr>
          <p:cNvPr id="7" name="Text 5"/>
          <p:cNvSpPr/>
          <p:nvPr/>
        </p:nvSpPr>
        <p:spPr>
          <a:xfrm>
            <a:off x="685800" y="3383280"/>
            <a:ext cx="2194560" cy="640080"/>
          </a:xfrm>
          <a:prstGeom prst="rect">
            <a:avLst/>
          </a:prstGeom>
          <a:noFill/>
          <a:ln/>
        </p:spPr>
        <p:txBody>
          <a:bodyPr wrap="square" lIns="0" tIns="0" rIns="0" bIns="0" rtlCol="0" anchor="ctr"/>
          <a:lstStyle/>
          <a:p>
            <a:pPr algn="ctr" indent="0" marL="0">
              <a:lnSpc>
                <a:spcPct val="115000"/>
              </a:lnSpc>
              <a:buNone/>
            </a:pPr>
            <a:r>
              <a:rPr lang="en-US" sz="1100" dirty="0">
                <a:solidFill>
                  <a:srgbClr val="FFFFFF"/>
                </a:solidFill>
                <a:latin typeface="Calibri" pitchFamily="34" charset="0"/>
                <a:ea typeface="Calibri" pitchFamily="34" charset="-122"/>
                <a:cs typeface="Calibri" pitchFamily="34" charset="-120"/>
              </a:rPr>
              <a:t>El sistema aguarda</a:t>
            </a:r>
            <a:endParaRPr lang="en-US" sz="1100" dirty="0"/>
          </a:p>
          <a:p>
            <a:pPr algn="ctr" indent="0" marL="0">
              <a:lnSpc>
                <a:spcPct val="115000"/>
              </a:lnSpc>
              <a:buNone/>
            </a:pPr>
            <a:r>
              <a:rPr lang="en-US" sz="1100" dirty="0">
                <a:solidFill>
                  <a:srgbClr val="FFFFFF"/>
                </a:solidFill>
                <a:latin typeface="Calibri" pitchFamily="34" charset="0"/>
                <a:ea typeface="Calibri" pitchFamily="34" charset="-122"/>
                <a:cs typeface="Calibri" pitchFamily="34" charset="-120"/>
              </a:rPr>
              <a:t>el ingreso del usuario</a:t>
            </a:r>
            <a:endParaRPr lang="en-US" sz="1100" dirty="0"/>
          </a:p>
        </p:txBody>
      </p:sp>
      <p:sp>
        <p:nvSpPr>
          <p:cNvPr id="8" name="Shape 6"/>
          <p:cNvSpPr/>
          <p:nvPr/>
        </p:nvSpPr>
        <p:spPr>
          <a:xfrm>
            <a:off x="3977640" y="2834640"/>
            <a:ext cx="2651760" cy="1280160"/>
          </a:xfrm>
          <a:prstGeom prst="roundRect">
            <a:avLst>
              <a:gd name="adj" fmla="val 7143"/>
            </a:avLst>
          </a:prstGeom>
          <a:solidFill>
            <a:srgbClr val="0F2A52"/>
          </a:solidFill>
          <a:ln/>
        </p:spPr>
      </p:sp>
      <p:sp>
        <p:nvSpPr>
          <p:cNvPr id="9" name="Text 7"/>
          <p:cNvSpPr/>
          <p:nvPr/>
        </p:nvSpPr>
        <p:spPr>
          <a:xfrm>
            <a:off x="3977640" y="2999232"/>
            <a:ext cx="2651760" cy="365760"/>
          </a:xfrm>
          <a:prstGeom prst="rect">
            <a:avLst/>
          </a:prstGeom>
          <a:noFill/>
          <a:ln/>
        </p:spPr>
        <p:txBody>
          <a:bodyPr wrap="square" lIns="0" tIns="0" rIns="0" bIns="0" rtlCol="0" anchor="ctr"/>
          <a:lstStyle/>
          <a:p>
            <a:pPr algn="ctr" indent="0" marL="0">
              <a:buNone/>
            </a:pPr>
            <a:r>
              <a:rPr lang="en-US" sz="1500" b="1" dirty="0">
                <a:solidFill>
                  <a:srgbClr val="23D5F2"/>
                </a:solidFill>
                <a:latin typeface="Calibri" pitchFamily="34" charset="0"/>
                <a:ea typeface="Calibri" pitchFamily="34" charset="-122"/>
                <a:cs typeface="Calibri" pitchFamily="34" charset="-120"/>
              </a:rPr>
              <a:t>VERIFICACIÓN</a:t>
            </a:r>
            <a:endParaRPr lang="en-US" sz="1500" dirty="0"/>
          </a:p>
        </p:txBody>
      </p:sp>
      <p:sp>
        <p:nvSpPr>
          <p:cNvPr id="10" name="Text 8"/>
          <p:cNvSpPr/>
          <p:nvPr/>
        </p:nvSpPr>
        <p:spPr>
          <a:xfrm>
            <a:off x="4114800" y="3383280"/>
            <a:ext cx="2377440" cy="640080"/>
          </a:xfrm>
          <a:prstGeom prst="rect">
            <a:avLst/>
          </a:prstGeom>
          <a:noFill/>
          <a:ln/>
        </p:spPr>
        <p:txBody>
          <a:bodyPr wrap="square" lIns="0" tIns="0" rIns="0" bIns="0" rtlCol="0" anchor="ctr"/>
          <a:lstStyle/>
          <a:p>
            <a:pPr algn="ctr" indent="0" marL="0">
              <a:lnSpc>
                <a:spcPct val="115000"/>
              </a:lnSpc>
              <a:buNone/>
            </a:pPr>
            <a:r>
              <a:rPr lang="en-US" sz="1100" dirty="0">
                <a:solidFill>
                  <a:srgbClr val="FFFFFF"/>
                </a:solidFill>
                <a:latin typeface="Calibri" pitchFamily="34" charset="0"/>
                <a:ea typeface="Calibri" pitchFamily="34" charset="-122"/>
                <a:cs typeface="Calibri" pitchFamily="34" charset="-120"/>
              </a:rPr>
              <a:t>Se compara la clave</a:t>
            </a:r>
            <a:endParaRPr lang="en-US" sz="1100" dirty="0"/>
          </a:p>
          <a:p>
            <a:pPr algn="ctr" indent="0" marL="0">
              <a:lnSpc>
                <a:spcPct val="115000"/>
              </a:lnSpc>
              <a:buNone/>
            </a:pPr>
            <a:r>
              <a:rPr lang="en-US" sz="1100" dirty="0">
                <a:solidFill>
                  <a:srgbClr val="FFFFFF"/>
                </a:solidFill>
                <a:latin typeface="Calibri" pitchFamily="34" charset="0"/>
                <a:ea typeface="Calibri" pitchFamily="34" charset="-122"/>
                <a:cs typeface="Calibri" pitchFamily="34" charset="-120"/>
              </a:rPr>
              <a:t>ingresada vs. almacenada</a:t>
            </a:r>
            <a:endParaRPr lang="en-US" sz="1100" dirty="0"/>
          </a:p>
        </p:txBody>
      </p:sp>
      <p:sp>
        <p:nvSpPr>
          <p:cNvPr id="11" name="Shape 9"/>
          <p:cNvSpPr/>
          <p:nvPr/>
        </p:nvSpPr>
        <p:spPr>
          <a:xfrm>
            <a:off x="3017520" y="3474720"/>
            <a:ext cx="960120" cy="0"/>
          </a:xfrm>
          <a:prstGeom prst="line">
            <a:avLst/>
          </a:prstGeom>
          <a:noFill/>
          <a:ln w="25400">
            <a:solidFill>
              <a:srgbClr val="9FB3D1"/>
            </a:solidFill>
            <a:prstDash val="solid"/>
            <a:tailEnd type="triangle"/>
          </a:ln>
        </p:spPr>
      </p:sp>
      <p:sp>
        <p:nvSpPr>
          <p:cNvPr id="12" name="Shape 10"/>
          <p:cNvSpPr/>
          <p:nvPr/>
        </p:nvSpPr>
        <p:spPr>
          <a:xfrm>
            <a:off x="6629400" y="3474720"/>
            <a:ext cx="502920" cy="0"/>
          </a:xfrm>
          <a:prstGeom prst="line">
            <a:avLst/>
          </a:prstGeom>
          <a:noFill/>
          <a:ln w="25400">
            <a:solidFill>
              <a:srgbClr val="9FB3D1"/>
            </a:solidFill>
            <a:prstDash val="solid"/>
          </a:ln>
        </p:spPr>
      </p:sp>
      <p:sp>
        <p:nvSpPr>
          <p:cNvPr id="13" name="Shape 11"/>
          <p:cNvSpPr/>
          <p:nvPr/>
        </p:nvSpPr>
        <p:spPr>
          <a:xfrm>
            <a:off x="7132320" y="3474720"/>
            <a:ext cx="0" cy="1051560"/>
          </a:xfrm>
          <a:prstGeom prst="line">
            <a:avLst/>
          </a:prstGeom>
          <a:noFill/>
          <a:ln w="25400">
            <a:solidFill>
              <a:srgbClr val="9FB3D1"/>
            </a:solidFill>
            <a:prstDash val="solid"/>
          </a:ln>
        </p:spPr>
      </p:sp>
      <p:sp>
        <p:nvSpPr>
          <p:cNvPr id="14" name="Shape 12"/>
          <p:cNvSpPr/>
          <p:nvPr/>
        </p:nvSpPr>
        <p:spPr>
          <a:xfrm>
            <a:off x="7132320" y="2423160"/>
            <a:ext cx="502920" cy="0"/>
          </a:xfrm>
          <a:prstGeom prst="line">
            <a:avLst/>
          </a:prstGeom>
          <a:noFill/>
          <a:ln w="25400">
            <a:solidFill>
              <a:srgbClr val="9FB3D1"/>
            </a:solidFill>
            <a:prstDash val="solid"/>
            <a:tailEnd type="triangle"/>
          </a:ln>
        </p:spPr>
      </p:sp>
      <p:sp>
        <p:nvSpPr>
          <p:cNvPr id="15" name="Shape 13"/>
          <p:cNvSpPr/>
          <p:nvPr/>
        </p:nvSpPr>
        <p:spPr>
          <a:xfrm>
            <a:off x="7132320" y="4526280"/>
            <a:ext cx="502920" cy="0"/>
          </a:xfrm>
          <a:prstGeom prst="line">
            <a:avLst/>
          </a:prstGeom>
          <a:noFill/>
          <a:ln w="25400">
            <a:solidFill>
              <a:srgbClr val="9FB3D1"/>
            </a:solidFill>
            <a:prstDash val="solid"/>
            <a:tailEnd type="triangle"/>
          </a:ln>
        </p:spPr>
      </p:sp>
      <p:sp>
        <p:nvSpPr>
          <p:cNvPr id="16" name="Shape 14"/>
          <p:cNvSpPr/>
          <p:nvPr/>
        </p:nvSpPr>
        <p:spPr>
          <a:xfrm>
            <a:off x="7635240" y="1783080"/>
            <a:ext cx="3566160" cy="1005840"/>
          </a:xfrm>
          <a:prstGeom prst="roundRect">
            <a:avLst>
              <a:gd name="adj" fmla="val 9091"/>
            </a:avLst>
          </a:prstGeom>
          <a:solidFill>
            <a:srgbClr val="3DDC97"/>
          </a:solidFill>
          <a:ln/>
        </p:spPr>
      </p:sp>
      <p:sp>
        <p:nvSpPr>
          <p:cNvPr id="17" name="Text 15"/>
          <p:cNvSpPr/>
          <p:nvPr/>
        </p:nvSpPr>
        <p:spPr>
          <a:xfrm>
            <a:off x="7635240" y="1783080"/>
            <a:ext cx="3566160" cy="365760"/>
          </a:xfrm>
          <a:prstGeom prst="rect">
            <a:avLst/>
          </a:prstGeom>
          <a:noFill/>
          <a:ln/>
        </p:spPr>
        <p:txBody>
          <a:bodyPr wrap="square" lIns="0" tIns="0" rIns="0" bIns="0" rtlCol="0" anchor="ctr"/>
          <a:lstStyle/>
          <a:p>
            <a:pPr algn="ctr" indent="0" marL="0">
              <a:buNone/>
            </a:pPr>
            <a:r>
              <a:rPr lang="en-US" sz="1400" b="1" dirty="0">
                <a:solidFill>
                  <a:srgbClr val="0A1830"/>
                </a:solidFill>
                <a:latin typeface="Calibri" pitchFamily="34" charset="0"/>
                <a:ea typeface="Calibri" pitchFamily="34" charset="-122"/>
                <a:cs typeface="Calibri" pitchFamily="34" charset="-120"/>
              </a:rPr>
              <a:t>ACCESO PERMITIDO</a:t>
            </a:r>
            <a:endParaRPr lang="en-US" sz="1400" dirty="0"/>
          </a:p>
        </p:txBody>
      </p:sp>
      <p:sp>
        <p:nvSpPr>
          <p:cNvPr id="18" name="Text 16"/>
          <p:cNvSpPr/>
          <p:nvPr/>
        </p:nvSpPr>
        <p:spPr>
          <a:xfrm>
            <a:off x="7635240" y="2176272"/>
            <a:ext cx="3566160" cy="365760"/>
          </a:xfrm>
          <a:prstGeom prst="rect">
            <a:avLst/>
          </a:prstGeom>
          <a:noFill/>
          <a:ln/>
        </p:spPr>
        <p:txBody>
          <a:bodyPr wrap="square" lIns="0" tIns="0" rIns="0" bIns="0" rtlCol="0" anchor="ctr"/>
          <a:lstStyle/>
          <a:p>
            <a:pPr algn="ctr" indent="0" marL="0">
              <a:buNone/>
            </a:pPr>
            <a:r>
              <a:rPr lang="en-US" sz="1100" dirty="0">
                <a:solidFill>
                  <a:srgbClr val="0A1830"/>
                </a:solidFill>
                <a:latin typeface="Calibri" pitchFamily="34" charset="0"/>
                <a:ea typeface="Calibri" pitchFamily="34" charset="-122"/>
                <a:cs typeface="Calibri" pitchFamily="34" charset="-120"/>
              </a:rPr>
              <a:t>Clave correcta</a:t>
            </a:r>
            <a:endParaRPr lang="en-US" sz="1100" dirty="0"/>
          </a:p>
        </p:txBody>
      </p:sp>
      <p:sp>
        <p:nvSpPr>
          <p:cNvPr id="19" name="Shape 17"/>
          <p:cNvSpPr/>
          <p:nvPr/>
        </p:nvSpPr>
        <p:spPr>
          <a:xfrm>
            <a:off x="7635240" y="2880360"/>
            <a:ext cx="3566160" cy="1005840"/>
          </a:xfrm>
          <a:prstGeom prst="roundRect">
            <a:avLst>
              <a:gd name="adj" fmla="val 9091"/>
            </a:avLst>
          </a:prstGeom>
          <a:solidFill>
            <a:srgbClr val="FF5C5C"/>
          </a:solidFill>
          <a:ln/>
        </p:spPr>
      </p:sp>
      <p:sp>
        <p:nvSpPr>
          <p:cNvPr id="20" name="Text 18"/>
          <p:cNvSpPr/>
          <p:nvPr/>
        </p:nvSpPr>
        <p:spPr>
          <a:xfrm>
            <a:off x="7635240" y="2880360"/>
            <a:ext cx="3566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ACCESO DENEGADO</a:t>
            </a:r>
            <a:endParaRPr lang="en-US" sz="1400" dirty="0"/>
          </a:p>
        </p:txBody>
      </p:sp>
      <p:sp>
        <p:nvSpPr>
          <p:cNvPr id="21" name="Text 19"/>
          <p:cNvSpPr/>
          <p:nvPr/>
        </p:nvSpPr>
        <p:spPr>
          <a:xfrm>
            <a:off x="7635240" y="3273552"/>
            <a:ext cx="3566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Clave incorrecta</a:t>
            </a:r>
            <a:endParaRPr lang="en-US" sz="1100" dirty="0"/>
          </a:p>
        </p:txBody>
      </p:sp>
      <p:sp>
        <p:nvSpPr>
          <p:cNvPr id="22" name="Text 20"/>
          <p:cNvSpPr/>
          <p:nvPr/>
        </p:nvSpPr>
        <p:spPr>
          <a:xfrm>
            <a:off x="548640" y="4617720"/>
            <a:ext cx="10698480" cy="457200"/>
          </a:xfrm>
          <a:prstGeom prst="rect">
            <a:avLst/>
          </a:prstGeom>
          <a:noFill/>
          <a:ln/>
        </p:spPr>
        <p:txBody>
          <a:bodyPr wrap="square" lIns="0" tIns="0" rIns="0" bIns="0" rtlCol="0" anchor="ctr"/>
          <a:lstStyle/>
          <a:p>
            <a:pPr indent="0" marL="0">
              <a:buNone/>
            </a:pPr>
            <a:r>
              <a:rPr lang="en-US" sz="1200" i="1" dirty="0">
                <a:solidFill>
                  <a:srgbClr val="6B7F9E"/>
                </a:solidFill>
                <a:latin typeface="Calibri" pitchFamily="34" charset="0"/>
                <a:ea typeface="Calibri" pitchFamily="34" charset="-122"/>
                <a:cs typeface="Calibri" pitchFamily="34" charset="-120"/>
              </a:rPr>
              <a:t>El sistema avanza entre estados cuando ocurre un evento concreto (p. ej., pulsar el botón de validación).</a:t>
            </a:r>
            <a:endParaRPr lang="en-US" sz="1200" dirty="0"/>
          </a:p>
        </p:txBody>
      </p:sp>
      <p:sp>
        <p:nvSpPr>
          <p:cNvPr id="23" name="Text 21"/>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9FB3D1"/>
                </a:solidFill>
                <a:latin typeface="Calibri" pitchFamily="34" charset="0"/>
                <a:ea typeface="Calibri" pitchFamily="34" charset="-122"/>
                <a:cs typeface="Calibri" pitchFamily="34" charset="-120"/>
              </a:rPr>
              <a:t>Anteproyecto de Curso · Candado Digital sobre FPGA Nexys 4</a:t>
            </a:r>
            <a:endParaRPr lang="en-US" sz="900" dirty="0"/>
          </a:p>
        </p:txBody>
      </p:sp>
      <p:sp>
        <p:nvSpPr>
          <p:cNvPr id="24" name="Text 22"/>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9FB3D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B3A66"/>
                </a:solidFill>
                <a:latin typeface="Calibri" pitchFamily="34" charset="0"/>
                <a:ea typeface="Calibri" pitchFamily="34" charset="-122"/>
                <a:cs typeface="Calibri" pitchFamily="34" charset="-120"/>
              </a:rPr>
              <a:t>III. MARCO TEÓRICO</a:t>
            </a:r>
            <a:endParaRPr lang="en-US" sz="1300" dirty="0"/>
          </a:p>
        </p:txBody>
      </p:sp>
      <p:sp>
        <p:nvSpPr>
          <p:cNvPr id="3" name="Text 1"/>
          <p:cNvSpPr/>
          <p:nvPr/>
        </p:nvSpPr>
        <p:spPr>
          <a:xfrm>
            <a:off x="548640" y="713232"/>
            <a:ext cx="10058400" cy="640080"/>
          </a:xfrm>
          <a:prstGeom prst="rect">
            <a:avLst/>
          </a:prstGeom>
          <a:noFill/>
          <a:ln/>
        </p:spPr>
        <p:txBody>
          <a:bodyPr wrap="square" lIns="0" tIns="0" rIns="0" bIns="0" rtlCol="0" anchor="ctr"/>
          <a:lstStyle/>
          <a:p>
            <a:pPr indent="0" marL="0">
              <a:buNone/>
            </a:pPr>
            <a:r>
              <a:rPr lang="en-US" sz="3000" b="1" dirty="0">
                <a:solidFill>
                  <a:srgbClr val="0A1830"/>
                </a:solidFill>
                <a:latin typeface="Cambria" pitchFamily="34" charset="0"/>
                <a:ea typeface="Cambria" pitchFamily="34" charset="-122"/>
                <a:cs typeface="Cambria" pitchFamily="34" charset="-120"/>
              </a:rPr>
              <a:t>Entradas/salidas y tipos de lógica</a:t>
            </a:r>
            <a:endParaRPr lang="en-US" sz="3000" dirty="0"/>
          </a:p>
        </p:txBody>
      </p:sp>
      <p:sp>
        <p:nvSpPr>
          <p:cNvPr id="4" name="Shape 2"/>
          <p:cNvSpPr/>
          <p:nvPr/>
        </p:nvSpPr>
        <p:spPr>
          <a:xfrm>
            <a:off x="548640" y="1691640"/>
            <a:ext cx="5394960" cy="4251960"/>
          </a:xfrm>
          <a:prstGeom prst="roundRect">
            <a:avLst>
              <a:gd name="adj" fmla="val 2151"/>
            </a:avLst>
          </a:prstGeom>
          <a:solidFill>
            <a:srgbClr val="F1F5FB"/>
          </a:solidFill>
          <a:ln w="12700">
            <a:solidFill>
              <a:srgbClr val="D7E3F4"/>
            </a:solidFill>
            <a:prstDash val="solid"/>
          </a:ln>
        </p:spPr>
      </p:sp>
      <p:sp>
        <p:nvSpPr>
          <p:cNvPr id="5" name="Text 3"/>
          <p:cNvSpPr/>
          <p:nvPr/>
        </p:nvSpPr>
        <p:spPr>
          <a:xfrm>
            <a:off x="822960" y="1920240"/>
            <a:ext cx="4846320" cy="320040"/>
          </a:xfrm>
          <a:prstGeom prst="rect">
            <a:avLst/>
          </a:prstGeom>
          <a:noFill/>
          <a:ln/>
        </p:spPr>
        <p:txBody>
          <a:bodyPr wrap="square" lIns="0" tIns="0" rIns="0" bIns="0" rtlCol="0" anchor="ctr"/>
          <a:lstStyle/>
          <a:p>
            <a:pPr indent="0" marL="0">
              <a:buNone/>
            </a:pPr>
            <a:r>
              <a:rPr lang="en-US" sz="1200" b="1" spc="100" kern="0" dirty="0">
                <a:solidFill>
                  <a:srgbClr val="1B3A66"/>
                </a:solidFill>
                <a:latin typeface="Calibri" pitchFamily="34" charset="0"/>
                <a:ea typeface="Calibri" pitchFamily="34" charset="-122"/>
                <a:cs typeface="Calibri" pitchFamily="34" charset="-120"/>
              </a:rPr>
              <a:t>PERIFÉRICOS DE LA NEXYS 4</a:t>
            </a:r>
            <a:endParaRPr lang="en-US" sz="1200" dirty="0"/>
          </a:p>
        </p:txBody>
      </p:sp>
      <p:sp>
        <p:nvSpPr>
          <p:cNvPr id="6" name="Shape 4"/>
          <p:cNvSpPr/>
          <p:nvPr/>
        </p:nvSpPr>
        <p:spPr>
          <a:xfrm>
            <a:off x="822960" y="2377440"/>
            <a:ext cx="457200" cy="457200"/>
          </a:xfrm>
          <a:prstGeom prst="ellipse">
            <a:avLst/>
          </a:prstGeom>
          <a:solidFill>
            <a:srgbClr val="0A1830"/>
          </a:solidFill>
          <a:ln/>
        </p:spPr>
      </p:sp>
      <p:sp>
        <p:nvSpPr>
          <p:cNvPr id="7" name="Text 5"/>
          <p:cNvSpPr/>
          <p:nvPr/>
        </p:nvSpPr>
        <p:spPr>
          <a:xfrm>
            <a:off x="822960" y="2377440"/>
            <a:ext cx="457200" cy="457200"/>
          </a:xfrm>
          <a:prstGeom prst="rect">
            <a:avLst/>
          </a:prstGeom>
          <a:noFill/>
          <a:ln/>
        </p:spPr>
        <p:txBody>
          <a:bodyPr wrap="square" lIns="0" tIns="0" rIns="0" bIns="0" rtlCol="0" anchor="ctr"/>
          <a:lstStyle/>
          <a:p>
            <a:pPr algn="ctr" indent="0" marL="0">
              <a:buNone/>
            </a:pPr>
            <a:r>
              <a:rPr lang="en-US" sz="1600" b="1" dirty="0">
                <a:solidFill>
                  <a:srgbClr val="23D5F2"/>
                </a:solidFill>
                <a:latin typeface="Calibri" pitchFamily="34" charset="0"/>
                <a:ea typeface="Calibri" pitchFamily="34" charset="-122"/>
                <a:cs typeface="Calibri" pitchFamily="34" charset="-120"/>
              </a:rPr>
              <a:t>S</a:t>
            </a:r>
            <a:endParaRPr lang="en-US" sz="1600" dirty="0"/>
          </a:p>
        </p:txBody>
      </p:sp>
      <p:sp>
        <p:nvSpPr>
          <p:cNvPr id="8" name="Text 6"/>
          <p:cNvSpPr/>
          <p:nvPr/>
        </p:nvSpPr>
        <p:spPr>
          <a:xfrm>
            <a:off x="1417320" y="2350008"/>
            <a:ext cx="4343400" cy="320040"/>
          </a:xfrm>
          <a:prstGeom prst="rect">
            <a:avLst/>
          </a:prstGeom>
          <a:noFill/>
          <a:ln/>
        </p:spPr>
        <p:txBody>
          <a:bodyPr wrap="square" lIns="0" tIns="0" rIns="0" bIns="0" rtlCol="0" anchor="ctr"/>
          <a:lstStyle/>
          <a:p>
            <a:pPr indent="0" marL="0">
              <a:buNone/>
            </a:pPr>
            <a:r>
              <a:rPr lang="en-US" sz="1400" b="1" dirty="0">
                <a:solidFill>
                  <a:srgbClr val="0A1830"/>
                </a:solidFill>
                <a:latin typeface="Calibri" pitchFamily="34" charset="0"/>
                <a:ea typeface="Calibri" pitchFamily="34" charset="-122"/>
                <a:cs typeface="Calibri" pitchFamily="34" charset="-120"/>
              </a:rPr>
              <a:t>Switches</a:t>
            </a:r>
            <a:endParaRPr lang="en-US" sz="1400" dirty="0"/>
          </a:p>
        </p:txBody>
      </p:sp>
      <p:sp>
        <p:nvSpPr>
          <p:cNvPr id="9" name="Text 7"/>
          <p:cNvSpPr/>
          <p:nvPr/>
        </p:nvSpPr>
        <p:spPr>
          <a:xfrm>
            <a:off x="1417320" y="2670048"/>
            <a:ext cx="4343400" cy="685800"/>
          </a:xfrm>
          <a:prstGeom prst="rect">
            <a:avLst/>
          </a:prstGeom>
          <a:noFill/>
          <a:ln/>
        </p:spPr>
        <p:txBody>
          <a:bodyPr wrap="square" lIns="0" tIns="0" rIns="0" bIns="0" rtlCol="0" anchor="ctr"/>
          <a:lstStyle/>
          <a:p>
            <a:pPr indent="0" marL="0">
              <a:lnSpc>
                <a:spcPct val="115000"/>
              </a:lnSpc>
              <a:buNone/>
            </a:pPr>
            <a:r>
              <a:rPr lang="en-US" sz="1150" dirty="0">
                <a:solidFill>
                  <a:srgbClr val="445B7C"/>
                </a:solidFill>
                <a:latin typeface="Calibri" pitchFamily="34" charset="0"/>
                <a:ea typeface="Calibri" pitchFamily="34" charset="-122"/>
                <a:cs typeface="Calibri" pitchFamily="34" charset="-120"/>
              </a:rPr>
              <a:t>Entradas digitales; cada uno representa un bit (0/1) que compone la clave de acceso.</a:t>
            </a:r>
            <a:endParaRPr lang="en-US" sz="1150" dirty="0"/>
          </a:p>
        </p:txBody>
      </p:sp>
      <p:sp>
        <p:nvSpPr>
          <p:cNvPr id="10" name="Shape 8"/>
          <p:cNvSpPr/>
          <p:nvPr/>
        </p:nvSpPr>
        <p:spPr>
          <a:xfrm>
            <a:off x="822960" y="3547872"/>
            <a:ext cx="457200" cy="457200"/>
          </a:xfrm>
          <a:prstGeom prst="ellipse">
            <a:avLst/>
          </a:prstGeom>
          <a:solidFill>
            <a:srgbClr val="0A1830"/>
          </a:solidFill>
          <a:ln/>
        </p:spPr>
      </p:sp>
      <p:sp>
        <p:nvSpPr>
          <p:cNvPr id="11" name="Text 9"/>
          <p:cNvSpPr/>
          <p:nvPr/>
        </p:nvSpPr>
        <p:spPr>
          <a:xfrm>
            <a:off x="822960" y="3547872"/>
            <a:ext cx="457200" cy="457200"/>
          </a:xfrm>
          <a:prstGeom prst="rect">
            <a:avLst/>
          </a:prstGeom>
          <a:noFill/>
          <a:ln/>
        </p:spPr>
        <p:txBody>
          <a:bodyPr wrap="square" lIns="0" tIns="0" rIns="0" bIns="0" rtlCol="0" anchor="ctr"/>
          <a:lstStyle/>
          <a:p>
            <a:pPr algn="ctr" indent="0" marL="0">
              <a:buNone/>
            </a:pPr>
            <a:r>
              <a:rPr lang="en-US" sz="1600" b="1" dirty="0">
                <a:solidFill>
                  <a:srgbClr val="23D5F2"/>
                </a:solidFill>
                <a:latin typeface="Calibri" pitchFamily="34" charset="0"/>
                <a:ea typeface="Calibri" pitchFamily="34" charset="-122"/>
                <a:cs typeface="Calibri" pitchFamily="34" charset="-120"/>
              </a:rPr>
              <a:t>B</a:t>
            </a:r>
            <a:endParaRPr lang="en-US" sz="1600" dirty="0"/>
          </a:p>
        </p:txBody>
      </p:sp>
      <p:sp>
        <p:nvSpPr>
          <p:cNvPr id="12" name="Text 10"/>
          <p:cNvSpPr/>
          <p:nvPr/>
        </p:nvSpPr>
        <p:spPr>
          <a:xfrm>
            <a:off x="1417320" y="3520440"/>
            <a:ext cx="4343400" cy="320040"/>
          </a:xfrm>
          <a:prstGeom prst="rect">
            <a:avLst/>
          </a:prstGeom>
          <a:noFill/>
          <a:ln/>
        </p:spPr>
        <p:txBody>
          <a:bodyPr wrap="square" lIns="0" tIns="0" rIns="0" bIns="0" rtlCol="0" anchor="ctr"/>
          <a:lstStyle/>
          <a:p>
            <a:pPr indent="0" marL="0">
              <a:buNone/>
            </a:pPr>
            <a:r>
              <a:rPr lang="en-US" sz="1400" b="1" dirty="0">
                <a:solidFill>
                  <a:srgbClr val="0A1830"/>
                </a:solidFill>
                <a:latin typeface="Calibri" pitchFamily="34" charset="0"/>
                <a:ea typeface="Calibri" pitchFamily="34" charset="-122"/>
                <a:cs typeface="Calibri" pitchFamily="34" charset="-120"/>
              </a:rPr>
              <a:t>Botones</a:t>
            </a:r>
            <a:endParaRPr lang="en-US" sz="1400" dirty="0"/>
          </a:p>
        </p:txBody>
      </p:sp>
      <p:sp>
        <p:nvSpPr>
          <p:cNvPr id="13" name="Text 11"/>
          <p:cNvSpPr/>
          <p:nvPr/>
        </p:nvSpPr>
        <p:spPr>
          <a:xfrm>
            <a:off x="1417320" y="3840480"/>
            <a:ext cx="4343400" cy="685800"/>
          </a:xfrm>
          <a:prstGeom prst="rect">
            <a:avLst/>
          </a:prstGeom>
          <a:noFill/>
          <a:ln/>
        </p:spPr>
        <p:txBody>
          <a:bodyPr wrap="square" lIns="0" tIns="0" rIns="0" bIns="0" rtlCol="0" anchor="ctr"/>
          <a:lstStyle/>
          <a:p>
            <a:pPr indent="0" marL="0">
              <a:lnSpc>
                <a:spcPct val="115000"/>
              </a:lnSpc>
              <a:buNone/>
            </a:pPr>
            <a:r>
              <a:rPr lang="en-US" sz="1150" dirty="0">
                <a:solidFill>
                  <a:srgbClr val="445B7C"/>
                </a:solidFill>
                <a:latin typeface="Calibri" pitchFamily="34" charset="0"/>
                <a:ea typeface="Calibri" pitchFamily="34" charset="-122"/>
                <a:cs typeface="Calibri" pitchFamily="34" charset="-120"/>
              </a:rPr>
              <a:t>Generan señal mientras se presionan; confirman el ingreso o reinician el sistema.</a:t>
            </a:r>
            <a:endParaRPr lang="en-US" sz="1150" dirty="0"/>
          </a:p>
        </p:txBody>
      </p:sp>
      <p:sp>
        <p:nvSpPr>
          <p:cNvPr id="14" name="Shape 12"/>
          <p:cNvSpPr/>
          <p:nvPr/>
        </p:nvSpPr>
        <p:spPr>
          <a:xfrm>
            <a:off x="822960" y="4718304"/>
            <a:ext cx="457200" cy="457200"/>
          </a:xfrm>
          <a:prstGeom prst="ellipse">
            <a:avLst/>
          </a:prstGeom>
          <a:solidFill>
            <a:srgbClr val="0A1830"/>
          </a:solidFill>
          <a:ln/>
        </p:spPr>
      </p:sp>
      <p:sp>
        <p:nvSpPr>
          <p:cNvPr id="15" name="Text 13"/>
          <p:cNvSpPr/>
          <p:nvPr/>
        </p:nvSpPr>
        <p:spPr>
          <a:xfrm>
            <a:off x="822960" y="4718304"/>
            <a:ext cx="457200" cy="457200"/>
          </a:xfrm>
          <a:prstGeom prst="rect">
            <a:avLst/>
          </a:prstGeom>
          <a:noFill/>
          <a:ln/>
        </p:spPr>
        <p:txBody>
          <a:bodyPr wrap="square" lIns="0" tIns="0" rIns="0" bIns="0" rtlCol="0" anchor="ctr"/>
          <a:lstStyle/>
          <a:p>
            <a:pPr algn="ctr" indent="0" marL="0">
              <a:buNone/>
            </a:pPr>
            <a:r>
              <a:rPr lang="en-US" sz="1600" b="1" dirty="0">
                <a:solidFill>
                  <a:srgbClr val="23D5F2"/>
                </a:solidFill>
                <a:latin typeface="Calibri" pitchFamily="34" charset="0"/>
                <a:ea typeface="Calibri" pitchFamily="34" charset="-122"/>
                <a:cs typeface="Calibri" pitchFamily="34" charset="-120"/>
              </a:rPr>
              <a:t>L</a:t>
            </a:r>
            <a:endParaRPr lang="en-US" sz="1600" dirty="0"/>
          </a:p>
        </p:txBody>
      </p:sp>
      <p:sp>
        <p:nvSpPr>
          <p:cNvPr id="16" name="Text 14"/>
          <p:cNvSpPr/>
          <p:nvPr/>
        </p:nvSpPr>
        <p:spPr>
          <a:xfrm>
            <a:off x="1417320" y="4690872"/>
            <a:ext cx="4343400" cy="320040"/>
          </a:xfrm>
          <a:prstGeom prst="rect">
            <a:avLst/>
          </a:prstGeom>
          <a:noFill/>
          <a:ln/>
        </p:spPr>
        <p:txBody>
          <a:bodyPr wrap="square" lIns="0" tIns="0" rIns="0" bIns="0" rtlCol="0" anchor="ctr"/>
          <a:lstStyle/>
          <a:p>
            <a:pPr indent="0" marL="0">
              <a:buNone/>
            </a:pPr>
            <a:r>
              <a:rPr lang="en-US" sz="1400" b="1" dirty="0">
                <a:solidFill>
                  <a:srgbClr val="0A1830"/>
                </a:solidFill>
                <a:latin typeface="Calibri" pitchFamily="34" charset="0"/>
                <a:ea typeface="Calibri" pitchFamily="34" charset="-122"/>
                <a:cs typeface="Calibri" pitchFamily="34" charset="-120"/>
              </a:rPr>
              <a:t>LEDs</a:t>
            </a:r>
            <a:endParaRPr lang="en-US" sz="1400" dirty="0"/>
          </a:p>
        </p:txBody>
      </p:sp>
      <p:sp>
        <p:nvSpPr>
          <p:cNvPr id="17" name="Text 15"/>
          <p:cNvSpPr/>
          <p:nvPr/>
        </p:nvSpPr>
        <p:spPr>
          <a:xfrm>
            <a:off x="1417320" y="5010912"/>
            <a:ext cx="4343400" cy="685800"/>
          </a:xfrm>
          <a:prstGeom prst="rect">
            <a:avLst/>
          </a:prstGeom>
          <a:noFill/>
          <a:ln/>
        </p:spPr>
        <p:txBody>
          <a:bodyPr wrap="square" lIns="0" tIns="0" rIns="0" bIns="0" rtlCol="0" anchor="ctr"/>
          <a:lstStyle/>
          <a:p>
            <a:pPr indent="0" marL="0">
              <a:lnSpc>
                <a:spcPct val="115000"/>
              </a:lnSpc>
              <a:buNone/>
            </a:pPr>
            <a:r>
              <a:rPr lang="en-US" sz="1150" dirty="0">
                <a:solidFill>
                  <a:srgbClr val="445B7C"/>
                </a:solidFill>
                <a:latin typeface="Calibri" pitchFamily="34" charset="0"/>
                <a:ea typeface="Calibri" pitchFamily="34" charset="-122"/>
                <a:cs typeface="Calibri" pitchFamily="34" charset="-120"/>
              </a:rPr>
              <a:t>Salidas digitales que se encienden o apagan para indicar acceso permitido o denegado.</a:t>
            </a:r>
            <a:endParaRPr lang="en-US" sz="1150" dirty="0"/>
          </a:p>
        </p:txBody>
      </p:sp>
      <p:sp>
        <p:nvSpPr>
          <p:cNvPr id="18" name="Shape 16"/>
          <p:cNvSpPr/>
          <p:nvPr/>
        </p:nvSpPr>
        <p:spPr>
          <a:xfrm>
            <a:off x="6217920" y="1691640"/>
            <a:ext cx="5394960" cy="2011680"/>
          </a:xfrm>
          <a:prstGeom prst="roundRect">
            <a:avLst>
              <a:gd name="adj" fmla="val 4545"/>
            </a:avLst>
          </a:prstGeom>
          <a:solidFill>
            <a:srgbClr val="13294D"/>
          </a:solidFill>
          <a:ln/>
        </p:spPr>
      </p:sp>
      <p:sp>
        <p:nvSpPr>
          <p:cNvPr id="19" name="Text 17"/>
          <p:cNvSpPr/>
          <p:nvPr/>
        </p:nvSpPr>
        <p:spPr>
          <a:xfrm>
            <a:off x="6492240" y="1920240"/>
            <a:ext cx="4846320" cy="320040"/>
          </a:xfrm>
          <a:prstGeom prst="rect">
            <a:avLst/>
          </a:prstGeom>
          <a:noFill/>
          <a:ln/>
        </p:spPr>
        <p:txBody>
          <a:bodyPr wrap="square" lIns="0" tIns="0" rIns="0" bIns="0" rtlCol="0" anchor="ctr"/>
          <a:lstStyle/>
          <a:p>
            <a:pPr indent="0" marL="0">
              <a:buNone/>
            </a:pPr>
            <a:r>
              <a:rPr lang="en-US" sz="1200" b="1" spc="100" kern="0" dirty="0">
                <a:solidFill>
                  <a:srgbClr val="23D5F2"/>
                </a:solidFill>
                <a:latin typeface="Calibri" pitchFamily="34" charset="0"/>
                <a:ea typeface="Calibri" pitchFamily="34" charset="-122"/>
                <a:cs typeface="Calibri" pitchFamily="34" charset="-120"/>
              </a:rPr>
              <a:t>LÓGICA COMBINACIONAL</a:t>
            </a:r>
            <a:endParaRPr lang="en-US" sz="1200" dirty="0"/>
          </a:p>
        </p:txBody>
      </p:sp>
      <p:sp>
        <p:nvSpPr>
          <p:cNvPr id="20" name="Text 18"/>
          <p:cNvSpPr/>
          <p:nvPr/>
        </p:nvSpPr>
        <p:spPr>
          <a:xfrm>
            <a:off x="6492240" y="2286000"/>
            <a:ext cx="4846320" cy="128016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La salida depende únicamente de los valores actuales de las entradas, sin memoria del pasado. Ejemplo: comparar bit a bit la clave ingresada con la almacenada.</a:t>
            </a:r>
            <a:endParaRPr lang="en-US" sz="1300" dirty="0"/>
          </a:p>
        </p:txBody>
      </p:sp>
      <p:sp>
        <p:nvSpPr>
          <p:cNvPr id="21" name="Shape 19"/>
          <p:cNvSpPr/>
          <p:nvPr/>
        </p:nvSpPr>
        <p:spPr>
          <a:xfrm>
            <a:off x="6217920" y="3886200"/>
            <a:ext cx="5394960" cy="2057400"/>
          </a:xfrm>
          <a:prstGeom prst="roundRect">
            <a:avLst>
              <a:gd name="adj" fmla="val 4444"/>
            </a:avLst>
          </a:prstGeom>
          <a:solidFill>
            <a:srgbClr val="0F2A52"/>
          </a:solidFill>
          <a:ln/>
        </p:spPr>
      </p:sp>
      <p:sp>
        <p:nvSpPr>
          <p:cNvPr id="22" name="Text 20"/>
          <p:cNvSpPr/>
          <p:nvPr/>
        </p:nvSpPr>
        <p:spPr>
          <a:xfrm>
            <a:off x="6492240" y="4114800"/>
            <a:ext cx="4846320" cy="320040"/>
          </a:xfrm>
          <a:prstGeom prst="rect">
            <a:avLst/>
          </a:prstGeom>
          <a:noFill/>
          <a:ln/>
        </p:spPr>
        <p:txBody>
          <a:bodyPr wrap="square" lIns="0" tIns="0" rIns="0" bIns="0" rtlCol="0" anchor="ctr"/>
          <a:lstStyle/>
          <a:p>
            <a:pPr indent="0" marL="0">
              <a:buNone/>
            </a:pPr>
            <a:r>
              <a:rPr lang="en-US" sz="1200" b="1" spc="100" kern="0" dirty="0">
                <a:solidFill>
                  <a:srgbClr val="23D5F2"/>
                </a:solidFill>
                <a:latin typeface="Calibri" pitchFamily="34" charset="0"/>
                <a:ea typeface="Calibri" pitchFamily="34" charset="-122"/>
                <a:cs typeface="Calibri" pitchFamily="34" charset="-120"/>
              </a:rPr>
              <a:t>LÓGICA SECUENCIAL</a:t>
            </a:r>
            <a:endParaRPr lang="en-US" sz="1200" dirty="0"/>
          </a:p>
        </p:txBody>
      </p:sp>
      <p:sp>
        <p:nvSpPr>
          <p:cNvPr id="23" name="Text 21"/>
          <p:cNvSpPr/>
          <p:nvPr/>
        </p:nvSpPr>
        <p:spPr>
          <a:xfrm>
            <a:off x="6492240" y="4480560"/>
            <a:ext cx="4846320" cy="1371600"/>
          </a:xfrm>
          <a:prstGeom prst="rect">
            <a:avLst/>
          </a:prstGeom>
          <a:noFill/>
          <a:ln/>
        </p:spPr>
        <p:txBody>
          <a:bodyPr wrap="square" lIns="0" tIns="0" rIns="0" bIns="0" rtlCol="0" anchor="ctr"/>
          <a:lstStyle/>
          <a:p>
            <a:pPr indent="0" marL="0">
              <a:lnSpc>
                <a:spcPct val="125000"/>
              </a:lnSpc>
              <a:buNone/>
            </a:pPr>
            <a:r>
              <a:rPr lang="en-US" sz="1300" dirty="0">
                <a:solidFill>
                  <a:srgbClr val="8FE9F7"/>
                </a:solidFill>
                <a:latin typeface="Calibri" pitchFamily="34" charset="0"/>
                <a:ea typeface="Calibri" pitchFamily="34" charset="-122"/>
                <a:cs typeface="Calibri" pitchFamily="34" charset="-120"/>
              </a:rPr>
              <a:t>Depende también de un estado anterior, almacenado en registros que se actualizan con cada pulso de reloj. Es la base para implementar la FSM del candado, que debe "recordar" en qué estado se encuentra.</a:t>
            </a:r>
            <a:endParaRPr lang="en-US" sz="1300" dirty="0"/>
          </a:p>
        </p:txBody>
      </p:sp>
      <p:sp>
        <p:nvSpPr>
          <p:cNvPr id="24" name="Text 22"/>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9FB3D1"/>
                </a:solidFill>
                <a:latin typeface="Calibri" pitchFamily="34" charset="0"/>
                <a:ea typeface="Calibri" pitchFamily="34" charset="-122"/>
                <a:cs typeface="Calibri" pitchFamily="34" charset="-120"/>
              </a:rPr>
              <a:t>Anteproyecto de Curso · Candado Digital sobre FPGA Nexys 4</a:t>
            </a:r>
            <a:endParaRPr lang="en-US" sz="900" dirty="0"/>
          </a:p>
        </p:txBody>
      </p:sp>
      <p:sp>
        <p:nvSpPr>
          <p:cNvPr id="25" name="Text 23"/>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9FB3D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lIns="0" tIns="0" rIns="0" bIns="0" rtlCol="0" anchor="ctr"/>
          <a:lstStyle/>
          <a:p>
            <a:pPr indent="0" marL="0">
              <a:buNone/>
            </a:pPr>
            <a:r>
              <a:rPr lang="en-US" sz="1300" b="1" spc="200" kern="0" dirty="0">
                <a:solidFill>
                  <a:srgbClr val="1B3A66"/>
                </a:solidFill>
                <a:latin typeface="Calibri" pitchFamily="34" charset="0"/>
                <a:ea typeface="Calibri" pitchFamily="34" charset="-122"/>
                <a:cs typeface="Calibri" pitchFamily="34" charset="-120"/>
              </a:rPr>
              <a:t>IV–V. CRONOGRAMA Y PRESUPUESTO</a:t>
            </a:r>
            <a:endParaRPr lang="en-US" sz="1300" dirty="0"/>
          </a:p>
        </p:txBody>
      </p:sp>
      <p:sp>
        <p:nvSpPr>
          <p:cNvPr id="3" name="Text 1"/>
          <p:cNvSpPr/>
          <p:nvPr/>
        </p:nvSpPr>
        <p:spPr>
          <a:xfrm>
            <a:off x="548640" y="713232"/>
            <a:ext cx="10058400" cy="640080"/>
          </a:xfrm>
          <a:prstGeom prst="rect">
            <a:avLst/>
          </a:prstGeom>
          <a:noFill/>
          <a:ln/>
        </p:spPr>
        <p:txBody>
          <a:bodyPr wrap="square" lIns="0" tIns="0" rIns="0" bIns="0" rtlCol="0" anchor="ctr"/>
          <a:lstStyle/>
          <a:p>
            <a:pPr indent="0" marL="0">
              <a:buNone/>
            </a:pPr>
            <a:r>
              <a:rPr lang="en-US" sz="3000" b="1" dirty="0">
                <a:solidFill>
                  <a:srgbClr val="0A1830"/>
                </a:solidFill>
                <a:latin typeface="Cambria" pitchFamily="34" charset="0"/>
                <a:ea typeface="Cambria" pitchFamily="34" charset="-122"/>
                <a:cs typeface="Cambria" pitchFamily="34" charset="-120"/>
              </a:rPr>
              <a:t>Plan de trabajo y costos</a:t>
            </a:r>
            <a:endParaRPr lang="en-US" sz="3000" dirty="0"/>
          </a:p>
        </p:txBody>
      </p:sp>
      <p:sp>
        <p:nvSpPr>
          <p:cNvPr id="4" name="Text 2"/>
          <p:cNvSpPr/>
          <p:nvPr/>
        </p:nvSpPr>
        <p:spPr>
          <a:xfrm>
            <a:off x="4114800" y="1325880"/>
            <a:ext cx="1051560" cy="320040"/>
          </a:xfrm>
          <a:prstGeom prst="rect">
            <a:avLst/>
          </a:prstGeom>
          <a:noFill/>
          <a:ln/>
        </p:spPr>
        <p:txBody>
          <a:bodyPr wrap="square" lIns="0" tIns="0" rIns="0" bIns="0" rtlCol="0" anchor="ctr"/>
          <a:lstStyle/>
          <a:p>
            <a:pPr algn="ctr" indent="0" marL="0">
              <a:buNone/>
            </a:pPr>
            <a:r>
              <a:rPr lang="en-US" sz="1050" b="1" dirty="0">
                <a:solidFill>
                  <a:srgbClr val="1B3A66"/>
                </a:solidFill>
                <a:latin typeface="Calibri" pitchFamily="34" charset="0"/>
                <a:ea typeface="Calibri" pitchFamily="34" charset="-122"/>
                <a:cs typeface="Calibri" pitchFamily="34" charset="-120"/>
              </a:rPr>
              <a:t>Sep. 2026</a:t>
            </a:r>
            <a:endParaRPr lang="en-US" sz="1050" dirty="0"/>
          </a:p>
        </p:txBody>
      </p:sp>
      <p:sp>
        <p:nvSpPr>
          <p:cNvPr id="5" name="Text 3"/>
          <p:cNvSpPr/>
          <p:nvPr/>
        </p:nvSpPr>
        <p:spPr>
          <a:xfrm>
            <a:off x="5166360" y="1325880"/>
            <a:ext cx="1051560" cy="320040"/>
          </a:xfrm>
          <a:prstGeom prst="rect">
            <a:avLst/>
          </a:prstGeom>
          <a:noFill/>
          <a:ln/>
        </p:spPr>
        <p:txBody>
          <a:bodyPr wrap="square" lIns="0" tIns="0" rIns="0" bIns="0" rtlCol="0" anchor="ctr"/>
          <a:lstStyle/>
          <a:p>
            <a:pPr algn="ctr" indent="0" marL="0">
              <a:buNone/>
            </a:pPr>
            <a:r>
              <a:rPr lang="en-US" sz="1050" b="1" dirty="0">
                <a:solidFill>
                  <a:srgbClr val="1B3A66"/>
                </a:solidFill>
                <a:latin typeface="Calibri" pitchFamily="34" charset="0"/>
                <a:ea typeface="Calibri" pitchFamily="34" charset="-122"/>
                <a:cs typeface="Calibri" pitchFamily="34" charset="-120"/>
              </a:rPr>
              <a:t>Oct. 2026</a:t>
            </a:r>
            <a:endParaRPr lang="en-US" sz="1050" dirty="0"/>
          </a:p>
        </p:txBody>
      </p:sp>
      <p:sp>
        <p:nvSpPr>
          <p:cNvPr id="6" name="Text 4"/>
          <p:cNvSpPr/>
          <p:nvPr/>
        </p:nvSpPr>
        <p:spPr>
          <a:xfrm>
            <a:off x="6217920" y="1325880"/>
            <a:ext cx="1051560" cy="320040"/>
          </a:xfrm>
          <a:prstGeom prst="rect">
            <a:avLst/>
          </a:prstGeom>
          <a:noFill/>
          <a:ln/>
        </p:spPr>
        <p:txBody>
          <a:bodyPr wrap="square" lIns="0" tIns="0" rIns="0" bIns="0" rtlCol="0" anchor="ctr"/>
          <a:lstStyle/>
          <a:p>
            <a:pPr algn="ctr" indent="0" marL="0">
              <a:buNone/>
            </a:pPr>
            <a:r>
              <a:rPr lang="en-US" sz="1050" b="1" dirty="0">
                <a:solidFill>
                  <a:srgbClr val="1B3A66"/>
                </a:solidFill>
                <a:latin typeface="Calibri" pitchFamily="34" charset="0"/>
                <a:ea typeface="Calibri" pitchFamily="34" charset="-122"/>
                <a:cs typeface="Calibri" pitchFamily="34" charset="-120"/>
              </a:rPr>
              <a:t>Nov. 2026</a:t>
            </a:r>
            <a:endParaRPr lang="en-US" sz="1050" dirty="0"/>
          </a:p>
        </p:txBody>
      </p:sp>
      <p:sp>
        <p:nvSpPr>
          <p:cNvPr id="7" name="Shape 5"/>
          <p:cNvSpPr/>
          <p:nvPr/>
        </p:nvSpPr>
        <p:spPr>
          <a:xfrm>
            <a:off x="548640" y="1691640"/>
            <a:ext cx="6720840" cy="475488"/>
          </a:xfrm>
          <a:prstGeom prst="rect">
            <a:avLst/>
          </a:prstGeom>
          <a:solidFill>
            <a:srgbClr val="F4F7FC"/>
          </a:solidFill>
          <a:ln/>
        </p:spPr>
      </p:sp>
      <p:sp>
        <p:nvSpPr>
          <p:cNvPr id="8" name="Text 6"/>
          <p:cNvSpPr/>
          <p:nvPr/>
        </p:nvSpPr>
        <p:spPr>
          <a:xfrm>
            <a:off x="640080" y="1691640"/>
            <a:ext cx="3474720" cy="475488"/>
          </a:xfrm>
          <a:prstGeom prst="rect">
            <a:avLst/>
          </a:prstGeom>
          <a:noFill/>
          <a:ln/>
        </p:spPr>
        <p:txBody>
          <a:bodyPr wrap="square" lIns="0" tIns="0" rIns="0" bIns="0" rtlCol="0" anchor="ctr"/>
          <a:lstStyle/>
          <a:p>
            <a:pPr indent="0" marL="0">
              <a:buNone/>
            </a:pPr>
            <a:r>
              <a:rPr lang="en-US" sz="1150" dirty="0">
                <a:solidFill>
                  <a:srgbClr val="0A1830"/>
                </a:solidFill>
                <a:latin typeface="Calibri" pitchFamily="34" charset="0"/>
                <a:ea typeface="Calibri" pitchFamily="34" charset="-122"/>
                <a:cs typeface="Calibri" pitchFamily="34" charset="-120"/>
              </a:rPr>
              <a:t>Revisión Nexys 4 / Vivado</a:t>
            </a:r>
            <a:endParaRPr lang="en-US" sz="1150" dirty="0"/>
          </a:p>
        </p:txBody>
      </p:sp>
      <p:sp>
        <p:nvSpPr>
          <p:cNvPr id="9" name="Shape 7"/>
          <p:cNvSpPr/>
          <p:nvPr/>
        </p:nvSpPr>
        <p:spPr>
          <a:xfrm>
            <a:off x="4494276" y="1783080"/>
            <a:ext cx="292608" cy="292608"/>
          </a:xfrm>
          <a:prstGeom prst="roundRect">
            <a:avLst>
              <a:gd name="adj" fmla="val 18750"/>
            </a:avLst>
          </a:prstGeom>
          <a:solidFill>
            <a:srgbClr val="23D5F2"/>
          </a:solidFill>
          <a:ln/>
        </p:spPr>
      </p:sp>
      <p:sp>
        <p:nvSpPr>
          <p:cNvPr id="10" name="Text 8"/>
          <p:cNvSpPr/>
          <p:nvPr/>
        </p:nvSpPr>
        <p:spPr>
          <a:xfrm>
            <a:off x="640080" y="2167128"/>
            <a:ext cx="3474720" cy="475488"/>
          </a:xfrm>
          <a:prstGeom prst="rect">
            <a:avLst/>
          </a:prstGeom>
          <a:noFill/>
          <a:ln/>
        </p:spPr>
        <p:txBody>
          <a:bodyPr wrap="square" lIns="0" tIns="0" rIns="0" bIns="0" rtlCol="0" anchor="ctr"/>
          <a:lstStyle/>
          <a:p>
            <a:pPr indent="0" marL="0">
              <a:buNone/>
            </a:pPr>
            <a:r>
              <a:rPr lang="en-US" sz="1150" dirty="0">
                <a:solidFill>
                  <a:srgbClr val="0A1830"/>
                </a:solidFill>
                <a:latin typeface="Calibri" pitchFamily="34" charset="0"/>
                <a:ea typeface="Calibri" pitchFamily="34" charset="-122"/>
                <a:cs typeface="Calibri" pitchFamily="34" charset="-120"/>
              </a:rPr>
              <a:t>Diseño de FSM (VHDL/Verilog)</a:t>
            </a:r>
            <a:endParaRPr lang="en-US" sz="1150" dirty="0"/>
          </a:p>
        </p:txBody>
      </p:sp>
      <p:sp>
        <p:nvSpPr>
          <p:cNvPr id="11" name="Shape 9"/>
          <p:cNvSpPr/>
          <p:nvPr/>
        </p:nvSpPr>
        <p:spPr>
          <a:xfrm>
            <a:off x="4494276" y="2258568"/>
            <a:ext cx="292608" cy="292608"/>
          </a:xfrm>
          <a:prstGeom prst="roundRect">
            <a:avLst>
              <a:gd name="adj" fmla="val 18750"/>
            </a:avLst>
          </a:prstGeom>
          <a:solidFill>
            <a:srgbClr val="23D5F2"/>
          </a:solidFill>
          <a:ln/>
        </p:spPr>
      </p:sp>
      <p:sp>
        <p:nvSpPr>
          <p:cNvPr id="12" name="Shape 10"/>
          <p:cNvSpPr/>
          <p:nvPr/>
        </p:nvSpPr>
        <p:spPr>
          <a:xfrm>
            <a:off x="5545836" y="2258568"/>
            <a:ext cx="292608" cy="292608"/>
          </a:xfrm>
          <a:prstGeom prst="roundRect">
            <a:avLst>
              <a:gd name="adj" fmla="val 18750"/>
            </a:avLst>
          </a:prstGeom>
          <a:solidFill>
            <a:srgbClr val="23D5F2"/>
          </a:solidFill>
          <a:ln/>
        </p:spPr>
      </p:sp>
      <p:sp>
        <p:nvSpPr>
          <p:cNvPr id="13" name="Shape 11"/>
          <p:cNvSpPr/>
          <p:nvPr/>
        </p:nvSpPr>
        <p:spPr>
          <a:xfrm>
            <a:off x="548640" y="2642616"/>
            <a:ext cx="6720840" cy="475488"/>
          </a:xfrm>
          <a:prstGeom prst="rect">
            <a:avLst/>
          </a:prstGeom>
          <a:solidFill>
            <a:srgbClr val="F4F7FC"/>
          </a:solidFill>
          <a:ln/>
        </p:spPr>
      </p:sp>
      <p:sp>
        <p:nvSpPr>
          <p:cNvPr id="14" name="Text 12"/>
          <p:cNvSpPr/>
          <p:nvPr/>
        </p:nvSpPr>
        <p:spPr>
          <a:xfrm>
            <a:off x="640080" y="2642616"/>
            <a:ext cx="3474720" cy="475488"/>
          </a:xfrm>
          <a:prstGeom prst="rect">
            <a:avLst/>
          </a:prstGeom>
          <a:noFill/>
          <a:ln/>
        </p:spPr>
        <p:txBody>
          <a:bodyPr wrap="square" lIns="0" tIns="0" rIns="0" bIns="0" rtlCol="0" anchor="ctr"/>
          <a:lstStyle/>
          <a:p>
            <a:pPr indent="0" marL="0">
              <a:buNone/>
            </a:pPr>
            <a:r>
              <a:rPr lang="en-US" sz="1150" dirty="0">
                <a:solidFill>
                  <a:srgbClr val="0A1830"/>
                </a:solidFill>
                <a:latin typeface="Calibri" pitchFamily="34" charset="0"/>
                <a:ea typeface="Calibri" pitchFamily="34" charset="-122"/>
                <a:cs typeface="Calibri" pitchFamily="34" charset="-120"/>
              </a:rPr>
              <a:t>Simulación funcional</a:t>
            </a:r>
            <a:endParaRPr lang="en-US" sz="1150" dirty="0"/>
          </a:p>
        </p:txBody>
      </p:sp>
      <p:sp>
        <p:nvSpPr>
          <p:cNvPr id="15" name="Shape 13"/>
          <p:cNvSpPr/>
          <p:nvPr/>
        </p:nvSpPr>
        <p:spPr>
          <a:xfrm>
            <a:off x="5545836" y="2734056"/>
            <a:ext cx="292608" cy="292608"/>
          </a:xfrm>
          <a:prstGeom prst="roundRect">
            <a:avLst>
              <a:gd name="adj" fmla="val 18750"/>
            </a:avLst>
          </a:prstGeom>
          <a:solidFill>
            <a:srgbClr val="23D5F2"/>
          </a:solidFill>
          <a:ln/>
        </p:spPr>
      </p:sp>
      <p:sp>
        <p:nvSpPr>
          <p:cNvPr id="16" name="Text 14"/>
          <p:cNvSpPr/>
          <p:nvPr/>
        </p:nvSpPr>
        <p:spPr>
          <a:xfrm>
            <a:off x="640080" y="3118104"/>
            <a:ext cx="3474720" cy="475488"/>
          </a:xfrm>
          <a:prstGeom prst="rect">
            <a:avLst/>
          </a:prstGeom>
          <a:noFill/>
          <a:ln/>
        </p:spPr>
        <p:txBody>
          <a:bodyPr wrap="square" lIns="0" tIns="0" rIns="0" bIns="0" rtlCol="0" anchor="ctr"/>
          <a:lstStyle/>
          <a:p>
            <a:pPr indent="0" marL="0">
              <a:buNone/>
            </a:pPr>
            <a:r>
              <a:rPr lang="en-US" sz="1150" dirty="0">
                <a:solidFill>
                  <a:srgbClr val="0A1830"/>
                </a:solidFill>
                <a:latin typeface="Calibri" pitchFamily="34" charset="0"/>
                <a:ea typeface="Calibri" pitchFamily="34" charset="-122"/>
                <a:cs typeface="Calibri" pitchFamily="34" charset="-120"/>
              </a:rPr>
              <a:t>Pruebas y validación en tarjeta</a:t>
            </a:r>
            <a:endParaRPr lang="en-US" sz="1150" dirty="0"/>
          </a:p>
        </p:txBody>
      </p:sp>
      <p:sp>
        <p:nvSpPr>
          <p:cNvPr id="17" name="Shape 15"/>
          <p:cNvSpPr/>
          <p:nvPr/>
        </p:nvSpPr>
        <p:spPr>
          <a:xfrm>
            <a:off x="5545836" y="3209544"/>
            <a:ext cx="292608" cy="292608"/>
          </a:xfrm>
          <a:prstGeom prst="roundRect">
            <a:avLst>
              <a:gd name="adj" fmla="val 18750"/>
            </a:avLst>
          </a:prstGeom>
          <a:solidFill>
            <a:srgbClr val="23D5F2"/>
          </a:solidFill>
          <a:ln/>
        </p:spPr>
      </p:sp>
      <p:sp>
        <p:nvSpPr>
          <p:cNvPr id="18" name="Shape 16"/>
          <p:cNvSpPr/>
          <p:nvPr/>
        </p:nvSpPr>
        <p:spPr>
          <a:xfrm>
            <a:off x="6597396" y="3209544"/>
            <a:ext cx="292608" cy="292608"/>
          </a:xfrm>
          <a:prstGeom prst="roundRect">
            <a:avLst>
              <a:gd name="adj" fmla="val 18750"/>
            </a:avLst>
          </a:prstGeom>
          <a:solidFill>
            <a:srgbClr val="23D5F2"/>
          </a:solidFill>
          <a:ln/>
        </p:spPr>
      </p:sp>
      <p:sp>
        <p:nvSpPr>
          <p:cNvPr id="19" name="Shape 17"/>
          <p:cNvSpPr/>
          <p:nvPr/>
        </p:nvSpPr>
        <p:spPr>
          <a:xfrm>
            <a:off x="548640" y="3593592"/>
            <a:ext cx="6720840" cy="475488"/>
          </a:xfrm>
          <a:prstGeom prst="rect">
            <a:avLst/>
          </a:prstGeom>
          <a:solidFill>
            <a:srgbClr val="F4F7FC"/>
          </a:solidFill>
          <a:ln/>
        </p:spPr>
      </p:sp>
      <p:sp>
        <p:nvSpPr>
          <p:cNvPr id="20" name="Text 18"/>
          <p:cNvSpPr/>
          <p:nvPr/>
        </p:nvSpPr>
        <p:spPr>
          <a:xfrm>
            <a:off x="640080" y="3593592"/>
            <a:ext cx="3474720" cy="475488"/>
          </a:xfrm>
          <a:prstGeom prst="rect">
            <a:avLst/>
          </a:prstGeom>
          <a:noFill/>
          <a:ln/>
        </p:spPr>
        <p:txBody>
          <a:bodyPr wrap="square" lIns="0" tIns="0" rIns="0" bIns="0" rtlCol="0" anchor="ctr"/>
          <a:lstStyle/>
          <a:p>
            <a:pPr indent="0" marL="0">
              <a:buNone/>
            </a:pPr>
            <a:r>
              <a:rPr lang="en-US" sz="1150" dirty="0">
                <a:solidFill>
                  <a:srgbClr val="0A1830"/>
                </a:solidFill>
                <a:latin typeface="Calibri" pitchFamily="34" charset="0"/>
                <a:ea typeface="Calibri" pitchFamily="34" charset="-122"/>
                <a:cs typeface="Calibri" pitchFamily="34" charset="-120"/>
              </a:rPr>
              <a:t>Ajustes y documentación</a:t>
            </a:r>
            <a:endParaRPr lang="en-US" sz="1150" dirty="0"/>
          </a:p>
        </p:txBody>
      </p:sp>
      <p:sp>
        <p:nvSpPr>
          <p:cNvPr id="21" name="Shape 19"/>
          <p:cNvSpPr/>
          <p:nvPr/>
        </p:nvSpPr>
        <p:spPr>
          <a:xfrm>
            <a:off x="6597396" y="3685032"/>
            <a:ext cx="292608" cy="292608"/>
          </a:xfrm>
          <a:prstGeom prst="roundRect">
            <a:avLst>
              <a:gd name="adj" fmla="val 18750"/>
            </a:avLst>
          </a:prstGeom>
          <a:solidFill>
            <a:srgbClr val="23D5F2"/>
          </a:solidFill>
          <a:ln/>
        </p:spPr>
      </p:sp>
      <p:sp>
        <p:nvSpPr>
          <p:cNvPr id="22" name="Text 20"/>
          <p:cNvSpPr/>
          <p:nvPr/>
        </p:nvSpPr>
        <p:spPr>
          <a:xfrm>
            <a:off x="640080" y="4069080"/>
            <a:ext cx="3474720" cy="475488"/>
          </a:xfrm>
          <a:prstGeom prst="rect">
            <a:avLst/>
          </a:prstGeom>
          <a:noFill/>
          <a:ln/>
        </p:spPr>
        <p:txBody>
          <a:bodyPr wrap="square" lIns="0" tIns="0" rIns="0" bIns="0" rtlCol="0" anchor="ctr"/>
          <a:lstStyle/>
          <a:p>
            <a:pPr indent="0" marL="0">
              <a:buNone/>
            </a:pPr>
            <a:r>
              <a:rPr lang="en-US" sz="1150" dirty="0">
                <a:solidFill>
                  <a:srgbClr val="0A1830"/>
                </a:solidFill>
                <a:latin typeface="Calibri" pitchFamily="34" charset="0"/>
                <a:ea typeface="Calibri" pitchFamily="34" charset="-122"/>
                <a:cs typeface="Calibri" pitchFamily="34" charset="-120"/>
              </a:rPr>
              <a:t>Entrega final del prototipo</a:t>
            </a:r>
            <a:endParaRPr lang="en-US" sz="1150" dirty="0"/>
          </a:p>
        </p:txBody>
      </p:sp>
      <p:sp>
        <p:nvSpPr>
          <p:cNvPr id="23" name="Shape 21"/>
          <p:cNvSpPr/>
          <p:nvPr/>
        </p:nvSpPr>
        <p:spPr>
          <a:xfrm>
            <a:off x="6597396" y="4160520"/>
            <a:ext cx="292608" cy="292608"/>
          </a:xfrm>
          <a:prstGeom prst="roundRect">
            <a:avLst>
              <a:gd name="adj" fmla="val 18750"/>
            </a:avLst>
          </a:prstGeom>
          <a:solidFill>
            <a:srgbClr val="23D5F2"/>
          </a:solidFill>
          <a:ln/>
        </p:spPr>
      </p:sp>
      <p:sp>
        <p:nvSpPr>
          <p:cNvPr id="24" name="Shape 22"/>
          <p:cNvSpPr/>
          <p:nvPr/>
        </p:nvSpPr>
        <p:spPr>
          <a:xfrm>
            <a:off x="7818120" y="1691640"/>
            <a:ext cx="3794760" cy="4206240"/>
          </a:xfrm>
          <a:prstGeom prst="roundRect">
            <a:avLst>
              <a:gd name="adj" fmla="val 2410"/>
            </a:avLst>
          </a:prstGeom>
          <a:solidFill>
            <a:srgbClr val="0A1830"/>
          </a:solidFill>
          <a:ln/>
        </p:spPr>
      </p:sp>
      <p:sp>
        <p:nvSpPr>
          <p:cNvPr id="25" name="Text 23"/>
          <p:cNvSpPr/>
          <p:nvPr/>
        </p:nvSpPr>
        <p:spPr>
          <a:xfrm>
            <a:off x="8092440" y="1920240"/>
            <a:ext cx="3291840" cy="320040"/>
          </a:xfrm>
          <a:prstGeom prst="rect">
            <a:avLst/>
          </a:prstGeom>
          <a:noFill/>
          <a:ln/>
        </p:spPr>
        <p:txBody>
          <a:bodyPr wrap="square" lIns="0" tIns="0" rIns="0" bIns="0" rtlCol="0" anchor="ctr"/>
          <a:lstStyle/>
          <a:p>
            <a:pPr indent="0" marL="0">
              <a:buNone/>
            </a:pPr>
            <a:r>
              <a:rPr lang="en-US" sz="1200" b="1" spc="100" kern="0" dirty="0">
                <a:solidFill>
                  <a:srgbClr val="23D5F2"/>
                </a:solidFill>
                <a:latin typeface="Calibri" pitchFamily="34" charset="0"/>
                <a:ea typeface="Calibri" pitchFamily="34" charset="-122"/>
                <a:cs typeface="Calibri" pitchFamily="34" charset="-120"/>
              </a:rPr>
              <a:t>PRESUPUESTO REAL</a:t>
            </a:r>
            <a:endParaRPr lang="en-US" sz="1200" dirty="0"/>
          </a:p>
        </p:txBody>
      </p:sp>
      <p:sp>
        <p:nvSpPr>
          <p:cNvPr id="26" name="Text 24"/>
          <p:cNvSpPr/>
          <p:nvPr/>
        </p:nvSpPr>
        <p:spPr>
          <a:xfrm>
            <a:off x="8092440" y="2240280"/>
            <a:ext cx="32918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$0 COP</a:t>
            </a:r>
            <a:endParaRPr lang="en-US" sz="4600" dirty="0"/>
          </a:p>
        </p:txBody>
      </p:sp>
      <p:sp>
        <p:nvSpPr>
          <p:cNvPr id="27" name="Text 25"/>
          <p:cNvSpPr/>
          <p:nvPr/>
        </p:nvSpPr>
        <p:spPr>
          <a:xfrm>
            <a:off x="8092440" y="3200400"/>
            <a:ext cx="3291840" cy="914400"/>
          </a:xfrm>
          <a:prstGeom prst="rect">
            <a:avLst/>
          </a:prstGeom>
          <a:noFill/>
          <a:ln/>
        </p:spPr>
        <p:txBody>
          <a:bodyPr wrap="square" lIns="0" tIns="0" rIns="0" bIns="0" rtlCol="0" anchor="ctr"/>
          <a:lstStyle/>
          <a:p>
            <a:pPr indent="0" marL="0">
              <a:lnSpc>
                <a:spcPct val="125000"/>
              </a:lnSpc>
              <a:buNone/>
            </a:pPr>
            <a:r>
              <a:rPr lang="en-US" sz="1200" dirty="0">
                <a:solidFill>
                  <a:srgbClr val="8FE9F7"/>
                </a:solidFill>
                <a:latin typeface="Calibri" pitchFamily="34" charset="0"/>
                <a:ea typeface="Calibri" pitchFamily="34" charset="-122"/>
                <a:cs typeface="Calibri" pitchFamily="34" charset="-120"/>
              </a:rPr>
              <a:t>Tarjeta prestada por el laboratorio y software Vivado WebPACK gratuito para uso académico.</a:t>
            </a:r>
            <a:endParaRPr lang="en-US" sz="1200" dirty="0"/>
          </a:p>
        </p:txBody>
      </p:sp>
      <p:sp>
        <p:nvSpPr>
          <p:cNvPr id="28" name="Shape 26"/>
          <p:cNvSpPr/>
          <p:nvPr/>
        </p:nvSpPr>
        <p:spPr>
          <a:xfrm>
            <a:off x="8092440" y="4251960"/>
            <a:ext cx="3246120" cy="0"/>
          </a:xfrm>
          <a:prstGeom prst="line">
            <a:avLst/>
          </a:prstGeom>
          <a:noFill/>
          <a:ln w="12700">
            <a:solidFill>
              <a:srgbClr val="2C5A94"/>
            </a:solidFill>
            <a:prstDash val="solid"/>
          </a:ln>
        </p:spPr>
      </p:sp>
      <p:sp>
        <p:nvSpPr>
          <p:cNvPr id="29" name="Text 27"/>
          <p:cNvSpPr/>
          <p:nvPr/>
        </p:nvSpPr>
        <p:spPr>
          <a:xfrm>
            <a:off x="8092440" y="4434840"/>
            <a:ext cx="3291840" cy="502920"/>
          </a:xfrm>
          <a:prstGeom prst="rect">
            <a:avLst/>
          </a:prstGeom>
          <a:noFill/>
          <a:ln/>
        </p:spPr>
        <p:txBody>
          <a:bodyPr wrap="square" lIns="0" tIns="0" rIns="0" bIns="0" rtlCol="0" anchor="ctr"/>
          <a:lstStyle/>
          <a:p>
            <a:pPr indent="0" marL="0">
              <a:buNone/>
            </a:pPr>
            <a:r>
              <a:rPr lang="en-US" sz="1050" b="1" spc="50" kern="0" dirty="0">
                <a:solidFill>
                  <a:srgbClr val="23D5F2"/>
                </a:solidFill>
                <a:latin typeface="Calibri" pitchFamily="34" charset="0"/>
                <a:ea typeface="Calibri" pitchFamily="34" charset="-122"/>
                <a:cs typeface="Calibri" pitchFamily="34" charset="-120"/>
              </a:rPr>
              <a:t>PRESUPUESTO TEÓRICO (REFERENCIAL)</a:t>
            </a:r>
            <a:endParaRPr lang="en-US" sz="1050" dirty="0"/>
          </a:p>
        </p:txBody>
      </p:sp>
      <p:sp>
        <p:nvSpPr>
          <p:cNvPr id="30" name="Text 28"/>
          <p:cNvSpPr/>
          <p:nvPr/>
        </p:nvSpPr>
        <p:spPr>
          <a:xfrm>
            <a:off x="8092440" y="4892040"/>
            <a:ext cx="3291840" cy="9144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 $4.3–4.7 millones COP si se debieran adquirir tarjeta FPGA y equipo de cómputo.</a:t>
            </a:r>
            <a:endParaRPr lang="en-US" sz="1200" dirty="0"/>
          </a:p>
        </p:txBody>
      </p:sp>
      <p:sp>
        <p:nvSpPr>
          <p:cNvPr id="31" name="Text 29"/>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9FB3D1"/>
                </a:solidFill>
                <a:latin typeface="Calibri" pitchFamily="34" charset="0"/>
                <a:ea typeface="Calibri" pitchFamily="34" charset="-122"/>
                <a:cs typeface="Calibri" pitchFamily="34" charset="-120"/>
              </a:rPr>
              <a:t>Anteproyecto de Curso · Candado Digital sobre FPGA Nexys 4</a:t>
            </a:r>
            <a:endParaRPr lang="en-US" sz="900" dirty="0"/>
          </a:p>
        </p:txBody>
      </p:sp>
      <p:sp>
        <p:nvSpPr>
          <p:cNvPr id="32" name="Text 30"/>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9FB3D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830"/>
        </a:solidFill>
      </p:bgPr>
    </p:bg>
    <p:spTree>
      <p:nvGrpSpPr>
        <p:cNvPr id="1" name=""/>
        <p:cNvGrpSpPr/>
        <p:nvPr/>
      </p:nvGrpSpPr>
      <p:grpSpPr>
        <a:xfrm>
          <a:off x="0" y="0"/>
          <a:ext cx="0" cy="0"/>
          <a:chOff x="0" y="0"/>
          <a:chExt cx="0" cy="0"/>
        </a:xfrm>
      </p:grpSpPr>
      <p:sp>
        <p:nvSpPr>
          <p:cNvPr id="2" name="Shape 0"/>
          <p:cNvSpPr/>
          <p:nvPr/>
        </p:nvSpPr>
        <p:spPr>
          <a:xfrm>
            <a:off x="10945368" y="338328"/>
            <a:ext cx="54864" cy="54864"/>
          </a:xfrm>
          <a:prstGeom prst="ellipse">
            <a:avLst/>
          </a:prstGeom>
          <a:solidFill>
            <a:srgbClr val="1F4A80"/>
          </a:solidFill>
          <a:ln/>
        </p:spPr>
      </p:sp>
      <p:sp>
        <p:nvSpPr>
          <p:cNvPr id="3" name="Shape 1"/>
          <p:cNvSpPr/>
          <p:nvPr/>
        </p:nvSpPr>
        <p:spPr>
          <a:xfrm>
            <a:off x="10945368" y="704088"/>
            <a:ext cx="54864" cy="54864"/>
          </a:xfrm>
          <a:prstGeom prst="ellipse">
            <a:avLst/>
          </a:prstGeom>
          <a:solidFill>
            <a:srgbClr val="1F4A80"/>
          </a:solidFill>
          <a:ln/>
        </p:spPr>
      </p:sp>
      <p:sp>
        <p:nvSpPr>
          <p:cNvPr id="4" name="Shape 2"/>
          <p:cNvSpPr/>
          <p:nvPr/>
        </p:nvSpPr>
        <p:spPr>
          <a:xfrm>
            <a:off x="10945368" y="1069848"/>
            <a:ext cx="54864" cy="54864"/>
          </a:xfrm>
          <a:prstGeom prst="ellipse">
            <a:avLst/>
          </a:prstGeom>
          <a:solidFill>
            <a:srgbClr val="1F4A80"/>
          </a:solidFill>
          <a:ln/>
        </p:spPr>
      </p:sp>
      <p:sp>
        <p:nvSpPr>
          <p:cNvPr id="5" name="Shape 3"/>
          <p:cNvSpPr/>
          <p:nvPr/>
        </p:nvSpPr>
        <p:spPr>
          <a:xfrm>
            <a:off x="11311128" y="338328"/>
            <a:ext cx="54864" cy="54864"/>
          </a:xfrm>
          <a:prstGeom prst="ellipse">
            <a:avLst/>
          </a:prstGeom>
          <a:solidFill>
            <a:srgbClr val="1F4A80"/>
          </a:solidFill>
          <a:ln/>
        </p:spPr>
      </p:sp>
      <p:sp>
        <p:nvSpPr>
          <p:cNvPr id="6" name="Shape 4"/>
          <p:cNvSpPr/>
          <p:nvPr/>
        </p:nvSpPr>
        <p:spPr>
          <a:xfrm>
            <a:off x="11311128" y="704088"/>
            <a:ext cx="54864" cy="54864"/>
          </a:xfrm>
          <a:prstGeom prst="ellipse">
            <a:avLst/>
          </a:prstGeom>
          <a:solidFill>
            <a:srgbClr val="1F4A80"/>
          </a:solidFill>
          <a:ln/>
        </p:spPr>
      </p:sp>
      <p:sp>
        <p:nvSpPr>
          <p:cNvPr id="7" name="Shape 5"/>
          <p:cNvSpPr/>
          <p:nvPr/>
        </p:nvSpPr>
        <p:spPr>
          <a:xfrm>
            <a:off x="11311128" y="1069848"/>
            <a:ext cx="54864" cy="54864"/>
          </a:xfrm>
          <a:prstGeom prst="ellipse">
            <a:avLst/>
          </a:prstGeom>
          <a:solidFill>
            <a:srgbClr val="1F4A80"/>
          </a:solidFill>
          <a:ln/>
        </p:spPr>
      </p:sp>
      <p:sp>
        <p:nvSpPr>
          <p:cNvPr id="8" name="Shape 6"/>
          <p:cNvSpPr/>
          <p:nvPr/>
        </p:nvSpPr>
        <p:spPr>
          <a:xfrm>
            <a:off x="11676888" y="338328"/>
            <a:ext cx="54864" cy="54864"/>
          </a:xfrm>
          <a:prstGeom prst="ellipse">
            <a:avLst/>
          </a:prstGeom>
          <a:solidFill>
            <a:srgbClr val="1F4A80"/>
          </a:solidFill>
          <a:ln/>
        </p:spPr>
      </p:sp>
      <p:sp>
        <p:nvSpPr>
          <p:cNvPr id="9" name="Shape 7"/>
          <p:cNvSpPr/>
          <p:nvPr/>
        </p:nvSpPr>
        <p:spPr>
          <a:xfrm>
            <a:off x="11676888" y="704088"/>
            <a:ext cx="54864" cy="54864"/>
          </a:xfrm>
          <a:prstGeom prst="ellipse">
            <a:avLst/>
          </a:prstGeom>
          <a:solidFill>
            <a:srgbClr val="1F4A80"/>
          </a:solidFill>
          <a:ln/>
        </p:spPr>
      </p:sp>
      <p:sp>
        <p:nvSpPr>
          <p:cNvPr id="10" name="Shape 8"/>
          <p:cNvSpPr/>
          <p:nvPr/>
        </p:nvSpPr>
        <p:spPr>
          <a:xfrm>
            <a:off x="11676888" y="1069848"/>
            <a:ext cx="54864" cy="54864"/>
          </a:xfrm>
          <a:prstGeom prst="ellipse">
            <a:avLst/>
          </a:prstGeom>
          <a:solidFill>
            <a:srgbClr val="1F4A80"/>
          </a:solidFill>
          <a:ln/>
        </p:spPr>
      </p:sp>
      <p:sp>
        <p:nvSpPr>
          <p:cNvPr id="11" name="Shape 9"/>
          <p:cNvSpPr/>
          <p:nvPr/>
        </p:nvSpPr>
        <p:spPr>
          <a:xfrm>
            <a:off x="12042648" y="338328"/>
            <a:ext cx="54864" cy="54864"/>
          </a:xfrm>
          <a:prstGeom prst="ellipse">
            <a:avLst/>
          </a:prstGeom>
          <a:solidFill>
            <a:srgbClr val="1F4A80"/>
          </a:solidFill>
          <a:ln/>
        </p:spPr>
      </p:sp>
      <p:sp>
        <p:nvSpPr>
          <p:cNvPr id="12" name="Shape 10"/>
          <p:cNvSpPr/>
          <p:nvPr/>
        </p:nvSpPr>
        <p:spPr>
          <a:xfrm>
            <a:off x="12042648" y="704088"/>
            <a:ext cx="54864" cy="54864"/>
          </a:xfrm>
          <a:prstGeom prst="ellipse">
            <a:avLst/>
          </a:prstGeom>
          <a:solidFill>
            <a:srgbClr val="1F4A80"/>
          </a:solidFill>
          <a:ln/>
        </p:spPr>
      </p:sp>
      <p:sp>
        <p:nvSpPr>
          <p:cNvPr id="13" name="Shape 11"/>
          <p:cNvSpPr/>
          <p:nvPr/>
        </p:nvSpPr>
        <p:spPr>
          <a:xfrm>
            <a:off x="12042648" y="1069848"/>
            <a:ext cx="54864" cy="54864"/>
          </a:xfrm>
          <a:prstGeom prst="ellipse">
            <a:avLst/>
          </a:prstGeom>
          <a:solidFill>
            <a:srgbClr val="1F4A80"/>
          </a:solidFill>
          <a:ln/>
        </p:spPr>
      </p:sp>
      <p:sp>
        <p:nvSpPr>
          <p:cNvPr id="14" name="Text 12"/>
          <p:cNvSpPr/>
          <p:nvPr/>
        </p:nvSpPr>
        <p:spPr>
          <a:xfrm>
            <a:off x="548640" y="548640"/>
            <a:ext cx="7315200" cy="320040"/>
          </a:xfrm>
          <a:prstGeom prst="rect">
            <a:avLst/>
          </a:prstGeom>
          <a:noFill/>
          <a:ln/>
        </p:spPr>
        <p:txBody>
          <a:bodyPr wrap="square" lIns="0" tIns="0" rIns="0" bIns="0" rtlCol="0" anchor="ctr"/>
          <a:lstStyle/>
          <a:p>
            <a:pPr indent="0" marL="0">
              <a:buNone/>
            </a:pPr>
            <a:r>
              <a:rPr lang="en-US" sz="1300" b="1" spc="200" kern="0" dirty="0">
                <a:solidFill>
                  <a:srgbClr val="23D5F2"/>
                </a:solidFill>
                <a:latin typeface="Calibri" pitchFamily="34" charset="0"/>
                <a:ea typeface="Calibri" pitchFamily="34" charset="-122"/>
                <a:cs typeface="Calibri" pitchFamily="34" charset="-120"/>
              </a:rPr>
              <a:t>VI. METODOLOGÍA</a:t>
            </a:r>
            <a:endParaRPr lang="en-US" sz="1300" dirty="0"/>
          </a:p>
        </p:txBody>
      </p:sp>
      <p:sp>
        <p:nvSpPr>
          <p:cNvPr id="15" name="Text 13"/>
          <p:cNvSpPr/>
          <p:nvPr/>
        </p:nvSpPr>
        <p:spPr>
          <a:xfrm>
            <a:off x="548640" y="868680"/>
            <a:ext cx="1078992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Tres bloques funcionales conectados en secuencia</a:t>
            </a:r>
            <a:endParaRPr lang="en-US" sz="2700" dirty="0"/>
          </a:p>
        </p:txBody>
      </p:sp>
      <p:sp>
        <p:nvSpPr>
          <p:cNvPr id="16" name="Shape 14"/>
          <p:cNvSpPr/>
          <p:nvPr/>
        </p:nvSpPr>
        <p:spPr>
          <a:xfrm>
            <a:off x="548640" y="1965960"/>
            <a:ext cx="3520440" cy="3017520"/>
          </a:xfrm>
          <a:prstGeom prst="roundRect">
            <a:avLst>
              <a:gd name="adj" fmla="val 3030"/>
            </a:avLst>
          </a:prstGeom>
          <a:solidFill>
            <a:srgbClr val="13294D"/>
          </a:solidFill>
          <a:ln/>
        </p:spPr>
      </p:sp>
      <p:sp>
        <p:nvSpPr>
          <p:cNvPr id="17" name="Shape 15"/>
          <p:cNvSpPr/>
          <p:nvPr/>
        </p:nvSpPr>
        <p:spPr>
          <a:xfrm>
            <a:off x="822960" y="2240280"/>
            <a:ext cx="548640" cy="548640"/>
          </a:xfrm>
          <a:prstGeom prst="ellipse">
            <a:avLst/>
          </a:prstGeom>
          <a:solidFill>
            <a:srgbClr val="23D5F2"/>
          </a:solidFill>
          <a:ln/>
        </p:spPr>
      </p:sp>
      <p:sp>
        <p:nvSpPr>
          <p:cNvPr id="18" name="Text 16"/>
          <p:cNvSpPr/>
          <p:nvPr/>
        </p:nvSpPr>
        <p:spPr>
          <a:xfrm>
            <a:off x="822960" y="2240280"/>
            <a:ext cx="548640" cy="548640"/>
          </a:xfrm>
          <a:prstGeom prst="rect">
            <a:avLst/>
          </a:prstGeom>
          <a:noFill/>
          <a:ln/>
        </p:spPr>
        <p:txBody>
          <a:bodyPr wrap="square" lIns="0" tIns="0" rIns="0" bIns="0" rtlCol="0" anchor="ctr"/>
          <a:lstStyle/>
          <a:p>
            <a:pPr algn="ctr" indent="0" marL="0">
              <a:buNone/>
            </a:pPr>
            <a:r>
              <a:rPr lang="en-US" sz="2200" b="1" dirty="0">
                <a:solidFill>
                  <a:srgbClr val="0A1830"/>
                </a:solidFill>
                <a:latin typeface="Calibri" pitchFamily="34" charset="0"/>
                <a:ea typeface="Calibri" pitchFamily="34" charset="-122"/>
                <a:cs typeface="Calibri" pitchFamily="34" charset="-120"/>
              </a:rPr>
              <a:t>1</a:t>
            </a:r>
            <a:endParaRPr lang="en-US" sz="2200" dirty="0"/>
          </a:p>
        </p:txBody>
      </p:sp>
      <p:sp>
        <p:nvSpPr>
          <p:cNvPr id="19" name="Text 17"/>
          <p:cNvSpPr/>
          <p:nvPr/>
        </p:nvSpPr>
        <p:spPr>
          <a:xfrm>
            <a:off x="822960" y="2971800"/>
            <a:ext cx="2971800" cy="64008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BLOQUE DE ENTRADA</a:t>
            </a:r>
            <a:endParaRPr lang="en-US" sz="1450" dirty="0"/>
          </a:p>
        </p:txBody>
      </p:sp>
      <p:sp>
        <p:nvSpPr>
          <p:cNvPr id="20" name="Text 18"/>
          <p:cNvSpPr/>
          <p:nvPr/>
        </p:nvSpPr>
        <p:spPr>
          <a:xfrm>
            <a:off x="822960" y="3566160"/>
            <a:ext cx="2971800" cy="1280160"/>
          </a:xfrm>
          <a:prstGeom prst="rect">
            <a:avLst/>
          </a:prstGeom>
          <a:noFill/>
          <a:ln/>
        </p:spPr>
        <p:txBody>
          <a:bodyPr wrap="square" lIns="0" tIns="0" rIns="0" bIns="0" rtlCol="0" anchor="ctr"/>
          <a:lstStyle/>
          <a:p>
            <a:pPr indent="0" marL="0">
              <a:lnSpc>
                <a:spcPct val="125000"/>
              </a:lnSpc>
              <a:buNone/>
            </a:pPr>
            <a:r>
              <a:rPr lang="en-US" sz="1200" dirty="0">
                <a:solidFill>
                  <a:srgbClr val="8FE9F7"/>
                </a:solidFill>
                <a:latin typeface="Calibri" pitchFamily="34" charset="0"/>
                <a:ea typeface="Calibri" pitchFamily="34" charset="-122"/>
                <a:cs typeface="Calibri" pitchFamily="34" charset="-120"/>
              </a:rPr>
              <a:t>Switches para ingresar la combinación y botón de confirmación que indica cuándo evaluarla.</a:t>
            </a:r>
            <a:endParaRPr lang="en-US" sz="1200" dirty="0"/>
          </a:p>
        </p:txBody>
      </p:sp>
      <p:sp>
        <p:nvSpPr>
          <p:cNvPr id="21" name="Shape 19"/>
          <p:cNvSpPr/>
          <p:nvPr/>
        </p:nvSpPr>
        <p:spPr>
          <a:xfrm>
            <a:off x="4114800" y="3474720"/>
            <a:ext cx="274320" cy="0"/>
          </a:xfrm>
          <a:prstGeom prst="line">
            <a:avLst/>
          </a:prstGeom>
          <a:noFill/>
          <a:ln w="25400">
            <a:solidFill>
              <a:srgbClr val="23D5F2"/>
            </a:solidFill>
            <a:prstDash val="solid"/>
            <a:tailEnd type="triangle"/>
          </a:ln>
        </p:spPr>
      </p:sp>
      <p:sp>
        <p:nvSpPr>
          <p:cNvPr id="22" name="Shape 20"/>
          <p:cNvSpPr/>
          <p:nvPr/>
        </p:nvSpPr>
        <p:spPr>
          <a:xfrm>
            <a:off x="4389120" y="1965960"/>
            <a:ext cx="3520440" cy="3017520"/>
          </a:xfrm>
          <a:prstGeom prst="roundRect">
            <a:avLst>
              <a:gd name="adj" fmla="val 3030"/>
            </a:avLst>
          </a:prstGeom>
          <a:solidFill>
            <a:srgbClr val="0F2A52"/>
          </a:solidFill>
          <a:ln/>
        </p:spPr>
      </p:sp>
      <p:sp>
        <p:nvSpPr>
          <p:cNvPr id="23" name="Shape 21"/>
          <p:cNvSpPr/>
          <p:nvPr/>
        </p:nvSpPr>
        <p:spPr>
          <a:xfrm>
            <a:off x="4663440" y="2240280"/>
            <a:ext cx="548640" cy="548640"/>
          </a:xfrm>
          <a:prstGeom prst="ellipse">
            <a:avLst/>
          </a:prstGeom>
          <a:solidFill>
            <a:srgbClr val="23D5F2"/>
          </a:solidFill>
          <a:ln/>
        </p:spPr>
      </p:sp>
      <p:sp>
        <p:nvSpPr>
          <p:cNvPr id="24" name="Text 22"/>
          <p:cNvSpPr/>
          <p:nvPr/>
        </p:nvSpPr>
        <p:spPr>
          <a:xfrm>
            <a:off x="4663440" y="2240280"/>
            <a:ext cx="548640" cy="548640"/>
          </a:xfrm>
          <a:prstGeom prst="rect">
            <a:avLst/>
          </a:prstGeom>
          <a:noFill/>
          <a:ln/>
        </p:spPr>
        <p:txBody>
          <a:bodyPr wrap="square" lIns="0" tIns="0" rIns="0" bIns="0" rtlCol="0" anchor="ctr"/>
          <a:lstStyle/>
          <a:p>
            <a:pPr algn="ctr" indent="0" marL="0">
              <a:buNone/>
            </a:pPr>
            <a:r>
              <a:rPr lang="en-US" sz="2200" b="1" dirty="0">
                <a:solidFill>
                  <a:srgbClr val="0A1830"/>
                </a:solidFill>
                <a:latin typeface="Calibri" pitchFamily="34" charset="0"/>
                <a:ea typeface="Calibri" pitchFamily="34" charset="-122"/>
                <a:cs typeface="Calibri" pitchFamily="34" charset="-120"/>
              </a:rPr>
              <a:t>2</a:t>
            </a:r>
            <a:endParaRPr lang="en-US" sz="2200" dirty="0"/>
          </a:p>
        </p:txBody>
      </p:sp>
      <p:sp>
        <p:nvSpPr>
          <p:cNvPr id="25" name="Text 23"/>
          <p:cNvSpPr/>
          <p:nvPr/>
        </p:nvSpPr>
        <p:spPr>
          <a:xfrm>
            <a:off x="4663440" y="2971800"/>
            <a:ext cx="2971800" cy="64008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BLOQUE DE LÓGICA DE CONTROL</a:t>
            </a:r>
            <a:endParaRPr lang="en-US" sz="1450" dirty="0"/>
          </a:p>
        </p:txBody>
      </p:sp>
      <p:sp>
        <p:nvSpPr>
          <p:cNvPr id="26" name="Text 24"/>
          <p:cNvSpPr/>
          <p:nvPr/>
        </p:nvSpPr>
        <p:spPr>
          <a:xfrm>
            <a:off x="4663440" y="3566160"/>
            <a:ext cx="2971800" cy="1280160"/>
          </a:xfrm>
          <a:prstGeom prst="rect">
            <a:avLst/>
          </a:prstGeom>
          <a:noFill/>
          <a:ln/>
        </p:spPr>
        <p:txBody>
          <a:bodyPr wrap="square" lIns="0" tIns="0" rIns="0" bIns="0" rtlCol="0" anchor="ctr"/>
          <a:lstStyle/>
          <a:p>
            <a:pPr indent="0" marL="0">
              <a:lnSpc>
                <a:spcPct val="125000"/>
              </a:lnSpc>
              <a:buNone/>
            </a:pPr>
            <a:r>
              <a:rPr lang="en-US" sz="1200" dirty="0">
                <a:solidFill>
                  <a:srgbClr val="8FE9F7"/>
                </a:solidFill>
                <a:latin typeface="Calibri" pitchFamily="34" charset="0"/>
                <a:ea typeface="Calibri" pitchFamily="34" charset="-122"/>
                <a:cs typeface="Calibri" pitchFamily="34" charset="-120"/>
              </a:rPr>
              <a:t>FSM en VHDL/Verilog: compara la clave ingresada con la almacenada y determina el siguiente estado.</a:t>
            </a:r>
            <a:endParaRPr lang="en-US" sz="1200" dirty="0"/>
          </a:p>
        </p:txBody>
      </p:sp>
      <p:sp>
        <p:nvSpPr>
          <p:cNvPr id="27" name="Shape 25"/>
          <p:cNvSpPr/>
          <p:nvPr/>
        </p:nvSpPr>
        <p:spPr>
          <a:xfrm>
            <a:off x="7955280" y="3474720"/>
            <a:ext cx="274320" cy="0"/>
          </a:xfrm>
          <a:prstGeom prst="line">
            <a:avLst/>
          </a:prstGeom>
          <a:noFill/>
          <a:ln w="25400">
            <a:solidFill>
              <a:srgbClr val="23D5F2"/>
            </a:solidFill>
            <a:prstDash val="solid"/>
            <a:tailEnd type="triangle"/>
          </a:ln>
        </p:spPr>
      </p:sp>
      <p:sp>
        <p:nvSpPr>
          <p:cNvPr id="28" name="Shape 26"/>
          <p:cNvSpPr/>
          <p:nvPr/>
        </p:nvSpPr>
        <p:spPr>
          <a:xfrm>
            <a:off x="8229600" y="1965960"/>
            <a:ext cx="3520440" cy="3017520"/>
          </a:xfrm>
          <a:prstGeom prst="roundRect">
            <a:avLst>
              <a:gd name="adj" fmla="val 3030"/>
            </a:avLst>
          </a:prstGeom>
          <a:solidFill>
            <a:srgbClr val="142F5C"/>
          </a:solidFill>
          <a:ln/>
        </p:spPr>
      </p:sp>
      <p:sp>
        <p:nvSpPr>
          <p:cNvPr id="29" name="Shape 27"/>
          <p:cNvSpPr/>
          <p:nvPr/>
        </p:nvSpPr>
        <p:spPr>
          <a:xfrm>
            <a:off x="8503920" y="2240280"/>
            <a:ext cx="548640" cy="548640"/>
          </a:xfrm>
          <a:prstGeom prst="ellipse">
            <a:avLst/>
          </a:prstGeom>
          <a:solidFill>
            <a:srgbClr val="23D5F2"/>
          </a:solidFill>
          <a:ln/>
        </p:spPr>
      </p:sp>
      <p:sp>
        <p:nvSpPr>
          <p:cNvPr id="30" name="Text 28"/>
          <p:cNvSpPr/>
          <p:nvPr/>
        </p:nvSpPr>
        <p:spPr>
          <a:xfrm>
            <a:off x="8503920" y="2240280"/>
            <a:ext cx="548640" cy="548640"/>
          </a:xfrm>
          <a:prstGeom prst="rect">
            <a:avLst/>
          </a:prstGeom>
          <a:noFill/>
          <a:ln/>
        </p:spPr>
        <p:txBody>
          <a:bodyPr wrap="square" lIns="0" tIns="0" rIns="0" bIns="0" rtlCol="0" anchor="ctr"/>
          <a:lstStyle/>
          <a:p>
            <a:pPr algn="ctr" indent="0" marL="0">
              <a:buNone/>
            </a:pPr>
            <a:r>
              <a:rPr lang="en-US" sz="2200" b="1" dirty="0">
                <a:solidFill>
                  <a:srgbClr val="0A1830"/>
                </a:solidFill>
                <a:latin typeface="Calibri" pitchFamily="34" charset="0"/>
                <a:ea typeface="Calibri" pitchFamily="34" charset="-122"/>
                <a:cs typeface="Calibri" pitchFamily="34" charset="-120"/>
              </a:rPr>
              <a:t>3</a:t>
            </a:r>
            <a:endParaRPr lang="en-US" sz="2200" dirty="0"/>
          </a:p>
        </p:txBody>
      </p:sp>
      <p:sp>
        <p:nvSpPr>
          <p:cNvPr id="31" name="Text 29"/>
          <p:cNvSpPr/>
          <p:nvPr/>
        </p:nvSpPr>
        <p:spPr>
          <a:xfrm>
            <a:off x="8503920" y="2971800"/>
            <a:ext cx="2971800" cy="64008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BLOQUE DE SALIDA</a:t>
            </a:r>
            <a:endParaRPr lang="en-US" sz="1450" dirty="0"/>
          </a:p>
        </p:txBody>
      </p:sp>
      <p:sp>
        <p:nvSpPr>
          <p:cNvPr id="32" name="Text 30"/>
          <p:cNvSpPr/>
          <p:nvPr/>
        </p:nvSpPr>
        <p:spPr>
          <a:xfrm>
            <a:off x="8503920" y="3566160"/>
            <a:ext cx="2971800" cy="1280160"/>
          </a:xfrm>
          <a:prstGeom prst="rect">
            <a:avLst/>
          </a:prstGeom>
          <a:noFill/>
          <a:ln/>
        </p:spPr>
        <p:txBody>
          <a:bodyPr wrap="square" lIns="0" tIns="0" rIns="0" bIns="0" rtlCol="0" anchor="ctr"/>
          <a:lstStyle/>
          <a:p>
            <a:pPr indent="0" marL="0">
              <a:lnSpc>
                <a:spcPct val="125000"/>
              </a:lnSpc>
              <a:buNone/>
            </a:pPr>
            <a:r>
              <a:rPr lang="en-US" sz="1200" dirty="0">
                <a:solidFill>
                  <a:srgbClr val="8FE9F7"/>
                </a:solidFill>
                <a:latin typeface="Calibri" pitchFamily="34" charset="0"/>
                <a:ea typeface="Calibri" pitchFamily="34" charset="-122"/>
                <a:cs typeface="Calibri" pitchFamily="34" charset="-120"/>
              </a:rPr>
              <a:t>Traduce el estado actual de la FSM en señales que encienden los LEDs, comunicando el resultado.</a:t>
            </a:r>
            <a:endParaRPr lang="en-US" sz="1200" dirty="0"/>
          </a:p>
        </p:txBody>
      </p:sp>
      <p:sp>
        <p:nvSpPr>
          <p:cNvPr id="33" name="Text 31"/>
          <p:cNvSpPr/>
          <p:nvPr/>
        </p:nvSpPr>
        <p:spPr>
          <a:xfrm>
            <a:off x="548640" y="5257800"/>
            <a:ext cx="10789920" cy="548640"/>
          </a:xfrm>
          <a:prstGeom prst="rect">
            <a:avLst/>
          </a:prstGeom>
          <a:noFill/>
          <a:ln/>
        </p:spPr>
        <p:txBody>
          <a:bodyPr wrap="square" lIns="0" tIns="0" rIns="0" bIns="0" rtlCol="0" anchor="ctr"/>
          <a:lstStyle/>
          <a:p>
            <a:pPr indent="0" marL="0">
              <a:buNone/>
            </a:pPr>
            <a:r>
              <a:rPr lang="en-US" sz="1300" i="1" dirty="0">
                <a:solidFill>
                  <a:srgbClr val="9FB3D1"/>
                </a:solidFill>
                <a:latin typeface="Calibri" pitchFamily="34" charset="0"/>
                <a:ea typeface="Calibri" pitchFamily="34" charset="-122"/>
                <a:cs typeface="Calibri" pitchFamily="34" charset="-120"/>
              </a:rPr>
              <a:t>Diseño por bloques que facilita la implementación progresiva, prueba y depuración en Vivado antes de cargar el sistema en la tarjeta Nexys 4.</a:t>
            </a:r>
            <a:endParaRPr lang="en-US" sz="1300" dirty="0"/>
          </a:p>
        </p:txBody>
      </p:sp>
      <p:sp>
        <p:nvSpPr>
          <p:cNvPr id="34" name="Text 32"/>
          <p:cNvSpPr/>
          <p:nvPr/>
        </p:nvSpPr>
        <p:spPr>
          <a:xfrm>
            <a:off x="457200" y="6510528"/>
            <a:ext cx="7772400" cy="274320"/>
          </a:xfrm>
          <a:prstGeom prst="rect">
            <a:avLst/>
          </a:prstGeom>
          <a:noFill/>
          <a:ln/>
        </p:spPr>
        <p:txBody>
          <a:bodyPr wrap="square" lIns="0" tIns="0" rIns="0" bIns="0" rtlCol="0" anchor="ctr"/>
          <a:lstStyle/>
          <a:p>
            <a:pPr algn="l" indent="0" marL="0">
              <a:buNone/>
            </a:pPr>
            <a:r>
              <a:rPr lang="en-US" sz="900" dirty="0">
                <a:solidFill>
                  <a:srgbClr val="9FB3D1"/>
                </a:solidFill>
                <a:latin typeface="Calibri" pitchFamily="34" charset="0"/>
                <a:ea typeface="Calibri" pitchFamily="34" charset="-122"/>
                <a:cs typeface="Calibri" pitchFamily="34" charset="-120"/>
              </a:rPr>
              <a:t>Anteproyecto de Curso · Candado Digital sobre FPGA Nexys 4</a:t>
            </a:r>
            <a:endParaRPr lang="en-US" sz="900" dirty="0"/>
          </a:p>
        </p:txBody>
      </p:sp>
      <p:sp>
        <p:nvSpPr>
          <p:cNvPr id="35" name="Text 33"/>
          <p:cNvSpPr/>
          <p:nvPr/>
        </p:nvSpPr>
        <p:spPr>
          <a:xfrm>
            <a:off x="11521440" y="6510528"/>
            <a:ext cx="365760" cy="274320"/>
          </a:xfrm>
          <a:prstGeom prst="rect">
            <a:avLst/>
          </a:prstGeom>
          <a:noFill/>
          <a:ln/>
        </p:spPr>
        <p:txBody>
          <a:bodyPr wrap="square" lIns="0" tIns="0" rIns="0" bIns="0" rtlCol="0" anchor="ctr"/>
          <a:lstStyle/>
          <a:p>
            <a:pPr algn="r" indent="0" marL="0">
              <a:buNone/>
            </a:pPr>
            <a:r>
              <a:rPr lang="en-US" sz="900" dirty="0">
                <a:solidFill>
                  <a:srgbClr val="9FB3D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2026-09-08T22:21:47Z</dcterms:created>
  <dcterms:modified xsi:type="dcterms:W3CDTF">2026-09-08T22:21:47Z</dcterms:modified>
</cp:coreProperties>
</file>